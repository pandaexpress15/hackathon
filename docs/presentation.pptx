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- CareerProof AI repository and bundled synthetic dataset, generated July 30, 2026.
- Participant_Guide_Updated(1).pdf, Track 2 requirements on pages 7-8.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- Participant_Guide_Updated(1).pdf, page 7: Track 2 asks teams to calculate or verify answers from the actual dataset.
- Participant_Guide_Updated(1).pdf, page 11: Problem and usefulness is 25% of judging.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- CareerProof AI source code: src/careerproof/question_router.py, query_validator.py, query_executor.py, evidence.py, confidence.py.
- Participant_Guide_Updated(1).pdf, pages 3 and 11: architecture should support a working trust mechanism, not replace the product.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- CareerProof synthetic dataset fingerprint d1d0cd52e1bda4c6.
- Verified analysis CP-88B4ACE97069E1CF: 223 matching postings, confidence 89/100.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- CareerProof verified result CP-88B4ACE97069E1CF generated from bundled synthetic data.
- CareerProof AI source code: evidence.py, privacy.py, confidence.py, query_executor.py.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- CareerProof AI user interface and source modules: ui.py, insights.py, evidence.py, audit.py, data_quality.py.
- Participant_Guide_Updated(1).pdf, page 8: optional Track 2 layers include masking, unsupported-question handling, natural language to Pandas, confidence labels, and report export.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- CareerProof AI pytest result: 62 passed. Demo checker result: 12/12 passed.
- Safe refusal proof CP-7AEBDAFC270C6B2F.
- Participant_Guide_Updated(1).pdf, pages 7-8 and 11: unsupported-question handling and meaningful trust controls are explicit evaluation priorities.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- Participant_Guide_Updated(1).pdf, page 11: participant-facing judging weights.
- Participant_Guide_Updated(1).pdf, pages 14-15: repository, presentation, video, ZIP, disclosure, and no-secret requirements.
- CareerProof AI repository: verified local build and bundled synthetic dataset.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LIGHT">
    <p:bg>
      <p:bgPr>
        <a:solidFill>
          <a:srgbClr val="F6F8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84280" y="6419088"/>
            <a:ext cx="320040" cy="18288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718096"/>
                </a:solidFill>
                <a:latin typeface="Aptos"/>
                <a:ea typeface="Aptos"/>
                <a:cs typeface="Aptos"/>
              </a:defRPr>
            </a:lvl1pPr>
          </a:lstStyle>
          <a:p>
            <a:pPr algn="r"/>
            <a:fld id="{F7021451-1387-4CA6-816F-3879F97B5CBC}" type="slidenum">
              <a:rPr b="0" lang="en-US"/>
              <a:t>1002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ARK">
    <p:bg>
      <p:bgPr>
        <a:solidFill>
          <a:srgbClr val="081C3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84280" y="6419088"/>
            <a:ext cx="320040" cy="18288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A9C1D9"/>
                </a:solidFill>
                <a:latin typeface="Aptos"/>
                <a:ea typeface="Aptos"/>
                <a:cs typeface="Aptos"/>
              </a:defRPr>
            </a:lvl1pPr>
          </a:lstStyle>
          <a:p>
            <a:pPr algn="r"/>
            <a:fld id="{F7021451-1387-4CA6-816F-3879F97B5CBC}" type="slidenum">
              <a:rPr b="0" lang="en-US"/>
              <a:t>1003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84280" y="6419088"/>
            <a:ext cx="320040" cy="18288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718096"/>
                </a:solidFill>
                <a:latin typeface="Aptos"/>
                <a:ea typeface="Aptos"/>
                <a:cs typeface="Aptos"/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38912" y="292608"/>
            <a:ext cx="384048" cy="384048"/>
          </a:xfrm>
          <a:prstGeom prst="roundRect">
            <a:avLst>
              <a:gd name="adj" fmla="val 19048"/>
            </a:avLst>
          </a:prstGeom>
          <a:solidFill>
            <a:srgbClr val="118A63"/>
          </a:solidFill>
          <a:ln w="12700">
            <a:solidFill>
              <a:srgbClr val="118A6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48056" y="370332"/>
            <a:ext cx="36576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CP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932688" y="329184"/>
            <a:ext cx="18745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40" kern="0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CAREERPROOF AI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566928" y="1097280"/>
            <a:ext cx="91440" cy="658368"/>
          </a:xfrm>
          <a:prstGeom prst="rect">
            <a:avLst/>
          </a:prstGeom>
          <a:solidFill>
            <a:srgbClr val="118A63"/>
          </a:solidFill>
          <a:ln w="12700">
            <a:solidFill>
              <a:srgbClr val="118A63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41248" y="1042416"/>
            <a:ext cx="47091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5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CareerProof AI</a:t>
            </a:r>
            <a:endParaRPr lang="en-US" sz="3500" dirty="0"/>
          </a:p>
        </p:txBody>
      </p:sp>
      <p:sp>
        <p:nvSpPr>
          <p:cNvPr id="7" name="Text 5"/>
          <p:cNvSpPr/>
          <p:nvPr/>
        </p:nvSpPr>
        <p:spPr>
          <a:xfrm>
            <a:off x="841248" y="1773936"/>
            <a:ext cx="48920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C8DAE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Ask the job market. See the proof.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841248" y="2331720"/>
            <a:ext cx="466344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dirty="0">
                <a:solidFill>
                  <a:srgbClr val="AFC5D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 trustworthy data-analysis assistant for students and early-career job seekers.</a:t>
            </a:r>
            <a:endParaRPr lang="en-US" sz="1550" dirty="0"/>
          </a:p>
        </p:txBody>
      </p:sp>
      <p:sp>
        <p:nvSpPr>
          <p:cNvPr id="9" name="Text 7"/>
          <p:cNvSpPr/>
          <p:nvPr/>
        </p:nvSpPr>
        <p:spPr>
          <a:xfrm>
            <a:off x="841248" y="3200400"/>
            <a:ext cx="3063240" cy="310896"/>
          </a:xfrm>
          <a:prstGeom prst="rect">
            <a:avLst/>
          </a:prstGeom>
          <a:solidFill>
            <a:srgbClr val="118A63"/>
          </a:solidFill>
          <a:ln>
            <a:solidFill>
              <a:srgbClr val="118A63"/>
            </a:solidFill>
          </a:ln>
        </p:spPr>
        <p:txBody>
          <a:bodyPr wrap="square" lIns="635" tIns="635" rIns="635" bIns="635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TRACK 2 · TRUSTWORTHY DATA ANALYSIS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841248" y="3730752"/>
            <a:ext cx="461772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AI interprets the question. Code calculates the answer.</a:t>
            </a:r>
            <a:endParaRPr lang="en-US" sz="2100" dirty="0"/>
          </a:p>
        </p:txBody>
      </p:sp>
      <p:sp>
        <p:nvSpPr>
          <p:cNvPr id="11" name="Text 9"/>
          <p:cNvSpPr/>
          <p:nvPr/>
        </p:nvSpPr>
        <p:spPr>
          <a:xfrm>
            <a:off x="841248" y="4553712"/>
            <a:ext cx="470916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B7CDE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Every result includes visible calculations, masked evidence, confidence, and a safe refusal when the dataset cannot answer.</a:t>
            </a:r>
            <a:endParaRPr lang="en-US" sz="1350" dirty="0"/>
          </a:p>
        </p:txBody>
      </p:sp>
      <p:sp>
        <p:nvSpPr>
          <p:cNvPr id="12" name="Shape 10"/>
          <p:cNvSpPr/>
          <p:nvPr/>
        </p:nvSpPr>
        <p:spPr>
          <a:xfrm>
            <a:off x="5907024" y="786384"/>
            <a:ext cx="5715000" cy="5376672"/>
          </a:xfrm>
          <a:prstGeom prst="roundRect">
            <a:avLst>
              <a:gd name="adj" fmla="val 3061"/>
            </a:avLst>
          </a:prstGeom>
          <a:solidFill>
            <a:srgbClr val="112E4B"/>
          </a:solidFill>
          <a:ln w="12700">
            <a:solidFill>
              <a:srgbClr val="2A5576"/>
            </a:solidFill>
            <a:prstDash val="solid"/>
          </a:ln>
          <a:effectLst>
            <a:outerShdw sx="100000" sy="100000" kx="0" ky="0" algn="bl" rotWithShape="0" blurRad="25400" dist="8890" dir="2700000">
              <a:srgbClr val="000000">
                <a:alpha val="16000"/>
              </a:srgbClr>
            </a:outerShdw>
          </a:effectLst>
        </p:spPr>
      </p:sp>
      <p:pic>
        <p:nvPicPr>
          <p:cNvPr id="13" name="Image 0" descr="/mnt/data/careerproof-ai/docs/assets/screenshots/dashboard.png">    </p:cNvPr>
          <p:cNvPicPr>
            <a:picLocks noChangeAspect="1"/>
          </p:cNvPicPr>
          <p:nvPr/>
        </p:nvPicPr>
        <p:blipFill>
          <a:blip r:embed="rId1"/>
          <a:srcRect l="14926" r="14926" t="0" b="0"/>
          <a:stretch/>
        </p:blipFill>
        <p:spPr>
          <a:xfrm>
            <a:off x="6071616" y="950976"/>
            <a:ext cx="5385816" cy="5020056"/>
          </a:xfrm>
          <a:prstGeom prst="rect">
            <a:avLst/>
          </a:prstGeom>
        </p:spPr>
      </p:pic>
      <p:sp>
        <p:nvSpPr>
          <p:cNvPr id="14" name="Text 11"/>
          <p:cNvSpPr/>
          <p:nvPr/>
        </p:nvSpPr>
        <p:spPr>
          <a:xfrm>
            <a:off x="9509760" y="5577840"/>
            <a:ext cx="1719072" cy="310896"/>
          </a:xfrm>
          <a:prstGeom prst="rect">
            <a:avLst/>
          </a:prstGeom>
          <a:solidFill>
            <a:srgbClr val="F28C28"/>
          </a:solidFill>
          <a:ln>
            <a:solidFill>
              <a:srgbClr val="F28C28"/>
            </a:solidFill>
          </a:ln>
        </p:spPr>
        <p:txBody>
          <a:bodyPr wrap="square" lIns="635" tIns="635" rIns="635" bIns="635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081C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SYNTHETIC DEMO DATA</a:t>
            </a:r>
            <a:endParaRPr lang="en-US" sz="950" dirty="0"/>
          </a:p>
        </p:txBody>
      </p:sp>
      <p:sp>
        <p:nvSpPr>
          <p:cNvPr id="15" name="Text 12"/>
          <p:cNvSpPr/>
          <p:nvPr/>
        </p:nvSpPr>
        <p:spPr>
          <a:xfrm>
            <a:off x="566928" y="6455664"/>
            <a:ext cx="68580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EABC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Secure AI Hackathon · Track 2 · CareerProof AI</a:t>
            </a:r>
            <a:endParaRPr lang="en-US" sz="8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84280" y="6419088"/>
            <a:ext cx="320040" cy="18288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A9C1D9"/>
                </a:solidFill>
                <a:latin typeface="Aptos"/>
                <a:ea typeface="Aptos"/>
                <a:cs typeface="Aptos"/>
              </a:defRPr>
            </a:lvl1pPr>
          </a:lstStyle>
          <a:p>
            <a:pPr algn="r"/>
            <a:fld id="{F7021451-1387-4CA6-816F-3879F97B5CBC}" type="slidenum">
              <a:rPr b="0" lang="en-US"/>
              <a:t>1</a:t>
            </a:fld>
            <a:endParaRPr lang="en-US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38912" y="292608"/>
            <a:ext cx="384048" cy="384048"/>
          </a:xfrm>
          <a:prstGeom prst="roundRect">
            <a:avLst>
              <a:gd name="adj" fmla="val 19048"/>
            </a:avLst>
          </a:prstGeom>
          <a:solidFill>
            <a:srgbClr val="118A63"/>
          </a:solidFill>
          <a:ln w="12700">
            <a:solidFill>
              <a:srgbClr val="118A6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48056" y="370332"/>
            <a:ext cx="36576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CP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932688" y="329184"/>
            <a:ext cx="18745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40" kern="0" dirty="0">
                <a:solidFill>
                  <a:srgbClr val="081C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CAREERPROOF AI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566928" y="749808"/>
            <a:ext cx="32918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80" kern="0" dirty="0">
                <a:solidFill>
                  <a:srgbClr val="118A6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 PROBLEM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566928" y="1005840"/>
            <a:ext cx="80467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5263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Job seekers have data, not answers</a:t>
            </a:r>
            <a:endParaRPr lang="en-US" sz="2700" dirty="0"/>
          </a:p>
        </p:txBody>
      </p:sp>
      <p:sp>
        <p:nvSpPr>
          <p:cNvPr id="7" name="Text 5"/>
          <p:cNvSpPr/>
          <p:nvPr/>
        </p:nvSpPr>
        <p:spPr>
          <a:xfrm>
            <a:off x="566928" y="1572768"/>
            <a:ext cx="98755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C6B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 risk is not only information overload. It is receiving a confident answer with no proof.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566928" y="2121408"/>
            <a:ext cx="3246120" cy="1408176"/>
          </a:xfrm>
          <a:prstGeom prst="rect">
            <a:avLst/>
          </a:prstGeom>
          <a:solidFill>
            <a:srgbClr val="FFFFFF"/>
          </a:solidFill>
          <a:ln>
            <a:solidFill>
              <a:srgbClr val="2F6BFF"/>
            </a:solidFill>
          </a:ln>
          <a:effectLst>
            <a:outerShdw sx="100000" sy="100000" kx="0" ky="0" algn="bl" rotWithShape="0" blurRad="322580000" dist="112903000" dir="162000000000">
              <a:srgbClr val="000000">
                <a:alpha val="1600000000"/>
              </a:srgbClr>
            </a:outerShdw>
          </a:effectLst>
        </p:spPr>
        <p:txBody>
          <a:bodyPr wrap="square" lIns="3048" tIns="3048" rIns="3048" bIns="254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15263A"/>
                </a:solidFill>
              </a:rPr>
              <a:t>Too many listings</a:t>
            </a:r>
            <a:endParaRPr lang="en-US" sz="1500" dirty="0"/>
          </a:p>
          <a:p>
            <a:pPr indent="0" marL="0">
              <a:buNone/>
            </a:pPr>
            <a:r>
              <a:rPr lang="en-US" sz="1250" dirty="0">
                <a:solidFill>
                  <a:srgbClr val="5C6B7A"/>
                </a:solidFill>
              </a:rPr>
              <a:t>Students must compare hundreds of postings across skills, locations, salaries, and experience levels.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566928" y="3685032"/>
            <a:ext cx="3246120" cy="1408176"/>
          </a:xfrm>
          <a:prstGeom prst="rect">
            <a:avLst/>
          </a:prstGeom>
          <a:solidFill>
            <a:srgbClr val="FFFFFF"/>
          </a:solidFill>
          <a:ln>
            <a:solidFill>
              <a:srgbClr val="F28C28"/>
            </a:solidFill>
          </a:ln>
          <a:effectLst>
            <a:outerShdw sx="100000" sy="100000" kx="0" ky="0" algn="bl" rotWithShape="0" blurRad="4096766000000" dist="1433868100000" dir="9720000000000000">
              <a:srgbClr val="000000">
                <a:alpha val="160000000000000"/>
              </a:srgbClr>
            </a:outerShdw>
          </a:effectLst>
        </p:spPr>
        <p:txBody>
          <a:bodyPr wrap="square" lIns="3048" tIns="3048" rIns="3048" bIns="254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15263A"/>
                </a:solidFill>
              </a:rPr>
              <a:t>Unsupported AI</a:t>
            </a:r>
            <a:endParaRPr lang="en-US" sz="1500" dirty="0"/>
          </a:p>
          <a:p>
            <a:pPr indent="0" marL="0">
              <a:buNone/>
            </a:pPr>
            <a:r>
              <a:rPr lang="en-US" sz="1250" dirty="0">
                <a:solidFill>
                  <a:srgbClr val="5C6B7A"/>
                </a:solidFill>
              </a:rPr>
              <a:t>A general chatbot can produce a plausible number without actually calculating from the uploaded dataset.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566928" y="5248656"/>
            <a:ext cx="3246120" cy="960120"/>
          </a:xfrm>
          <a:prstGeom prst="rect">
            <a:avLst/>
          </a:prstGeom>
          <a:solidFill>
            <a:srgbClr val="FFFFFF"/>
          </a:solidFill>
          <a:ln>
            <a:solidFill>
              <a:srgbClr val="D64545"/>
            </a:solidFill>
          </a:ln>
          <a:effectLst>
            <a:outerShdw sx="100000" sy="100000" kx="0" ky="0" algn="bl" rotWithShape="0" blurRad="52028928200000000" dist="18210124870000000" dir="583200000000000000000">
              <a:srgbClr val="000000">
                <a:alpha val="16000000000000000000"/>
              </a:srgbClr>
            </a:outerShdw>
          </a:effectLst>
        </p:spPr>
        <p:txBody>
          <a:bodyPr wrap="square" lIns="3048" tIns="3048" rIns="3048" bIns="2540" rtlCol="0" anchor="t"/>
          <a:lstStyle/>
          <a:p>
            <a:pPr indent="0" marL="0">
              <a:buNone/>
            </a:pPr>
            <a:r>
              <a:rPr lang="en-US" sz="1450" b="1" dirty="0">
                <a:solidFill>
                  <a:srgbClr val="15263A"/>
                </a:solidFill>
              </a:rPr>
              <a:t>Weak decision support</a:t>
            </a:r>
            <a:endParaRPr lang="en-US" sz="1450" dirty="0"/>
          </a:p>
          <a:p>
            <a:pPr indent="0" marL="0">
              <a:buNone/>
            </a:pPr>
            <a:r>
              <a:rPr lang="en-US" sz="1180" dirty="0">
                <a:solidFill>
                  <a:srgbClr val="5C6B7A"/>
                </a:solidFill>
              </a:rPr>
              <a:t>A number without sample size, source rows, or data-quality context can mislead a career decision.</a:t>
            </a:r>
            <a:endParaRPr lang="en-US" sz="1450" dirty="0"/>
          </a:p>
        </p:txBody>
      </p:sp>
      <p:sp>
        <p:nvSpPr>
          <p:cNvPr id="11" name="Text 9"/>
          <p:cNvSpPr/>
          <p:nvPr/>
        </p:nvSpPr>
        <p:spPr>
          <a:xfrm>
            <a:off x="4352544" y="2139696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50" kern="0" dirty="0">
                <a:solidFill>
                  <a:srgbClr val="5C6B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 TRUST GAP</a:t>
            </a:r>
            <a:endParaRPr lang="en-US" sz="1050" dirty="0"/>
          </a:p>
        </p:txBody>
      </p:sp>
      <p:sp>
        <p:nvSpPr>
          <p:cNvPr id="12" name="Text 10"/>
          <p:cNvSpPr/>
          <p:nvPr/>
        </p:nvSpPr>
        <p:spPr>
          <a:xfrm>
            <a:off x="4352544" y="2432304"/>
            <a:ext cx="68122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5263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“Which skills are most common in remote jobs?”</a:t>
            </a:r>
            <a:endParaRPr lang="en-US" sz="2000" dirty="0"/>
          </a:p>
        </p:txBody>
      </p:sp>
      <p:sp>
        <p:nvSpPr>
          <p:cNvPr id="13" name="Text 11"/>
          <p:cNvSpPr/>
          <p:nvPr/>
        </p:nvSpPr>
        <p:spPr>
          <a:xfrm>
            <a:off x="4352544" y="3017520"/>
            <a:ext cx="2999232" cy="2331720"/>
          </a:xfrm>
          <a:prstGeom prst="rect">
            <a:avLst/>
          </a:prstGeom>
          <a:solidFill>
            <a:srgbClr val="FFF1E1"/>
          </a:solidFill>
          <a:ln>
            <a:solidFill>
              <a:srgbClr val="F6C58F"/>
            </a:solidFill>
          </a:ln>
          <a:effectLst>
            <a:outerShdw sx="100000" sy="100000" kx="0" ky="0" algn="bl" rotWithShape="0" blurRad="660767388140000000000" dist="231268585849000000000" dir="3.4992e+25">
              <a:srgbClr val="000000">
                <a:alpha val="1.6e+24"/>
              </a:srgbClr>
            </a:outerShdw>
          </a:effectLst>
        </p:spPr>
        <p:txBody>
          <a:bodyPr wrap="square" lIns="3048" tIns="3048" rIns="3048" bIns="254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081C33"/>
                </a:solidFill>
              </a:rPr>
              <a:t>Typical chatbot</a:t>
            </a:r>
            <a:endParaRPr lang="en-US" sz="1500" dirty="0"/>
          </a:p>
          <a:p>
            <a:pPr indent="0" marL="0">
              <a:buNone/>
            </a:pPr>
            <a:r>
              <a:rPr lang="en-US" sz="1200" dirty="0">
                <a:solidFill>
                  <a:srgbClr val="15263A"/>
                </a:solidFill>
              </a:rPr>
              <a:t>Answers in natural language</a:t>
            </a:r>
            <a:endParaRPr lang="en-US" sz="1500" dirty="0"/>
          </a:p>
          <a:p>
            <a:pPr indent="0" marL="0">
              <a:buNone/>
            </a:pPr>
            <a:endParaRPr lang="en-US" sz="1500" dirty="0"/>
          </a:p>
          <a:p>
            <a:pPr indent="0" marL="0">
              <a:buNone/>
            </a:pPr>
            <a:r>
              <a:rPr lang="en-US" sz="1200" dirty="0">
                <a:solidFill>
                  <a:srgbClr val="15263A"/>
                </a:solidFill>
              </a:rPr>
              <a:t>May invent or blur the calculation</a:t>
            </a:r>
            <a:endParaRPr lang="en-US" sz="1500" dirty="0"/>
          </a:p>
          <a:p>
            <a:pPr indent="0" marL="0">
              <a:buNone/>
            </a:pPr>
            <a:endParaRPr lang="en-US" sz="1500" dirty="0"/>
          </a:p>
          <a:p>
            <a:pPr indent="0" marL="0">
              <a:buNone/>
            </a:pPr>
            <a:r>
              <a:rPr lang="en-US" sz="1200" dirty="0">
                <a:solidFill>
                  <a:srgbClr val="15263A"/>
                </a:solidFill>
              </a:rPr>
              <a:t>No source table or reproducible plan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7662672" y="3017520"/>
            <a:ext cx="3493008" cy="2331720"/>
          </a:xfrm>
          <a:prstGeom prst="rect">
            <a:avLst/>
          </a:prstGeom>
          <a:solidFill>
            <a:srgbClr val="E7F7F1"/>
          </a:solidFill>
          <a:ln>
            <a:solidFill>
              <a:srgbClr val="AADCC9"/>
            </a:solidFill>
          </a:ln>
          <a:effectLst>
            <a:outerShdw sx="100000" sy="100000" kx="0" ky="0" algn="bl" rotWithShape="0" blurRad="8.391745829378e+24" dist="2.9371110402823e+24" dir="2.09952e+30">
              <a:srgbClr val="000000">
                <a:alpha val="1.6e+29"/>
              </a:srgbClr>
            </a:outerShdw>
          </a:effectLst>
        </p:spPr>
        <p:txBody>
          <a:bodyPr wrap="square" lIns="3048" tIns="3048" rIns="3048" bIns="254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081C33"/>
                </a:solidFill>
              </a:rPr>
              <a:t>CareerProof AI</a:t>
            </a:r>
            <a:endParaRPr lang="en-US" sz="1500" dirty="0"/>
          </a:p>
          <a:p>
            <a:pPr indent="0" marL="0">
              <a:buNone/>
            </a:pPr>
            <a:r>
              <a:rPr lang="en-US" sz="1200" dirty="0">
                <a:solidFill>
                  <a:srgbClr val="15263A"/>
                </a:solidFill>
              </a:rPr>
              <a:t>Interprets the question</a:t>
            </a:r>
            <a:endParaRPr lang="en-US" sz="1500" dirty="0"/>
          </a:p>
          <a:p>
            <a:pPr indent="0" marL="0">
              <a:buNone/>
            </a:pPr>
            <a:endParaRPr lang="en-US" sz="1500" dirty="0"/>
          </a:p>
          <a:p>
            <a:pPr indent="0" marL="0">
              <a:buNone/>
            </a:pPr>
            <a:r>
              <a:rPr lang="en-US" sz="1200" dirty="0">
                <a:solidFill>
                  <a:srgbClr val="15263A"/>
                </a:solidFill>
              </a:rPr>
              <a:t>Runs an allowlisted Pandas calculation</a:t>
            </a:r>
            <a:endParaRPr lang="en-US" sz="1500" dirty="0"/>
          </a:p>
          <a:p>
            <a:pPr indent="0" marL="0">
              <a:buNone/>
            </a:pPr>
            <a:endParaRPr lang="en-US" sz="1500" dirty="0"/>
          </a:p>
          <a:p>
            <a:pPr indent="0" marL="0">
              <a:buNone/>
            </a:pPr>
            <a:r>
              <a:rPr lang="en-US" sz="1200" dirty="0">
                <a:solidFill>
                  <a:srgbClr val="15263A"/>
                </a:solidFill>
              </a:rPr>
              <a:t>Shows chart, rows, confidence, and Evidence ID</a:t>
            </a:r>
            <a:endParaRPr lang="en-US" sz="1500" dirty="0"/>
          </a:p>
        </p:txBody>
      </p:sp>
      <p:sp>
        <p:nvSpPr>
          <p:cNvPr id="15" name="Shape 13"/>
          <p:cNvSpPr/>
          <p:nvPr/>
        </p:nvSpPr>
        <p:spPr>
          <a:xfrm>
            <a:off x="7379208" y="3886200"/>
            <a:ext cx="237744" cy="384048"/>
          </a:xfrm>
          <a:prstGeom prst="rightArrow">
            <a:avLst/>
          </a:prstGeom>
          <a:solidFill>
            <a:srgbClr val="2F6BFF"/>
          </a:solidFill>
          <a:ln w="12700">
            <a:solidFill>
              <a:srgbClr val="2F6BFF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352544" y="5669280"/>
            <a:ext cx="1133856" cy="310896"/>
          </a:xfrm>
          <a:prstGeom prst="rect">
            <a:avLst/>
          </a:prstGeom>
          <a:solidFill>
            <a:srgbClr val="081C33"/>
          </a:solidFill>
          <a:ln>
            <a:solidFill>
              <a:srgbClr val="081C33"/>
            </a:solidFill>
          </a:ln>
        </p:spPr>
        <p:txBody>
          <a:bodyPr wrap="square" lIns="635" tIns="635" rIns="635" bIns="635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TARGET USERS</a:t>
            </a:r>
            <a:endParaRPr lang="en-US" sz="950" dirty="0"/>
          </a:p>
        </p:txBody>
      </p:sp>
      <p:sp>
        <p:nvSpPr>
          <p:cNvPr id="17" name="Text 15"/>
          <p:cNvSpPr/>
          <p:nvPr/>
        </p:nvSpPr>
        <p:spPr>
          <a:xfrm>
            <a:off x="5614416" y="5696712"/>
            <a:ext cx="550468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C6B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High school and college students · recent graduates · career counselors · workforce programs</a:t>
            </a:r>
            <a:endParaRPr lang="en-US" sz="1150" dirty="0"/>
          </a:p>
        </p:txBody>
      </p:sp>
      <p:sp>
        <p:nvSpPr>
          <p:cNvPr id="18" name="Text 16"/>
          <p:cNvSpPr/>
          <p:nvPr/>
        </p:nvSpPr>
        <p:spPr>
          <a:xfrm>
            <a:off x="566928" y="6455664"/>
            <a:ext cx="68580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7B879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Clear user problem + practical value directly support the highest-weight judging category.</a:t>
            </a:r>
            <a:endParaRPr lang="en-US" sz="8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84280" y="6419088"/>
            <a:ext cx="320040" cy="18288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718096"/>
                </a:solidFill>
                <a:latin typeface="Aptos"/>
                <a:ea typeface="Aptos"/>
                <a:cs typeface="Aptos"/>
              </a:defRPr>
            </a:lvl1pPr>
          </a:lstStyle>
          <a:p>
            <a:pPr algn="r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38912" y="292608"/>
            <a:ext cx="384048" cy="384048"/>
          </a:xfrm>
          <a:prstGeom prst="roundRect">
            <a:avLst>
              <a:gd name="adj" fmla="val 19048"/>
            </a:avLst>
          </a:prstGeom>
          <a:solidFill>
            <a:srgbClr val="118A63"/>
          </a:solidFill>
          <a:ln w="12700">
            <a:solidFill>
              <a:srgbClr val="118A6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48056" y="370332"/>
            <a:ext cx="36576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CP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932688" y="329184"/>
            <a:ext cx="18745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40" kern="0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CAREERPROOF AI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566928" y="749808"/>
            <a:ext cx="32918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80" kern="0" dirty="0">
                <a:solidFill>
                  <a:srgbClr val="118A6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HOW IT WORKS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566928" y="1005840"/>
            <a:ext cx="80467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A simple flow with a hard trust boundary</a:t>
            </a:r>
            <a:endParaRPr lang="en-US" sz="2700" dirty="0"/>
          </a:p>
        </p:txBody>
      </p:sp>
      <p:sp>
        <p:nvSpPr>
          <p:cNvPr id="7" name="Text 5"/>
          <p:cNvSpPr/>
          <p:nvPr/>
        </p:nvSpPr>
        <p:spPr>
          <a:xfrm>
            <a:off x="566928" y="1572768"/>
            <a:ext cx="98755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BDD0E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Language understanding helps route the question. Only deterministic code is allowed to create factual answers.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548640" y="2404872"/>
            <a:ext cx="1764792" cy="1261872"/>
          </a:xfrm>
          <a:prstGeom prst="rect">
            <a:avLst/>
          </a:prstGeom>
          <a:solidFill>
            <a:srgbClr val="102A48"/>
          </a:solidFill>
          <a:ln>
            <a:solidFill>
              <a:srgbClr val="2F6BFF"/>
            </a:solidFill>
          </a:ln>
          <a:effectLst>
            <a:outerShdw sx="100000" sy="100000" kx="0" ky="0" algn="bl" rotWithShape="0" blurRad="1.0657517203310059e+29" dist="3.730131021158521e+28" dir="1.259712e+35">
              <a:srgbClr val="000000">
                <a:alpha val="1.6e+34"/>
              </a:srgbClr>
            </a:outerShdw>
          </a:effectLst>
        </p:spPr>
        <p:txBody>
          <a:bodyPr wrap="square" lIns="1778" tIns="1651" rIns="1651" bIns="1524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1</a:t>
            </a:r>
            <a:endParaRPr lang="en-US" sz="1000" dirty="0"/>
          </a:p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</a:rPr>
              <a:t>CSV / XLSX</a:t>
            </a:r>
            <a:endParaRPr lang="en-US" sz="1000" dirty="0"/>
          </a:p>
          <a:p>
            <a:pPr indent="0" marL="0">
              <a:buNone/>
            </a:pPr>
            <a:r>
              <a:rPr lang="en-US" sz="950" dirty="0">
                <a:solidFill>
                  <a:srgbClr val="BDD0E3"/>
                </a:solidFill>
              </a:rPr>
              <a:t>Bundled or uploaded data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2336292" y="2834640"/>
            <a:ext cx="96012" cy="347472"/>
          </a:xfrm>
          <a:prstGeom prst="chevron">
            <a:avLst/>
          </a:prstGeom>
          <a:solidFill>
            <a:srgbClr val="4D7090"/>
          </a:solidFill>
          <a:ln w="12700">
            <a:solidFill>
              <a:srgbClr val="4D709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2441448" y="2404872"/>
            <a:ext cx="1764792" cy="1261872"/>
          </a:xfrm>
          <a:prstGeom prst="rect">
            <a:avLst/>
          </a:prstGeom>
          <a:solidFill>
            <a:srgbClr val="102A48"/>
          </a:solidFill>
          <a:ln>
            <a:solidFill>
              <a:srgbClr val="20A4A8"/>
            </a:solidFill>
          </a:ln>
          <a:effectLst>
            <a:outerShdw sx="100000" sy="100000" kx="0" ky="0" algn="bl" rotWithShape="0" blurRad="1.3535046848203775e+33" dist="4.737266396871322e+32" dir="7.558272e+39">
              <a:srgbClr val="000000">
                <a:alpha val="1.6e+39"/>
              </a:srgbClr>
            </a:outerShdw>
          </a:effectLst>
        </p:spPr>
        <p:txBody>
          <a:bodyPr wrap="square" lIns="1778" tIns="1651" rIns="1651" bIns="1524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2</a:t>
            </a:r>
            <a:endParaRPr lang="en-US" sz="1000" dirty="0"/>
          </a:p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</a:rPr>
              <a:t>Validate + clean</a:t>
            </a:r>
            <a:endParaRPr lang="en-US" sz="1000" dirty="0"/>
          </a:p>
          <a:p>
            <a:pPr indent="0" marL="0">
              <a:buNone/>
            </a:pPr>
            <a:r>
              <a:rPr lang="en-US" sz="950" dirty="0">
                <a:solidFill>
                  <a:srgbClr val="BDD0E3"/>
                </a:solidFill>
              </a:rPr>
              <a:t>Schema, dates, salaries, duplicates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4229100" y="2834640"/>
            <a:ext cx="96012" cy="347472"/>
          </a:xfrm>
          <a:prstGeom prst="chevron">
            <a:avLst/>
          </a:prstGeom>
          <a:solidFill>
            <a:srgbClr val="4D7090"/>
          </a:solidFill>
          <a:ln w="12700">
            <a:solidFill>
              <a:srgbClr val="4D709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334256" y="2404872"/>
            <a:ext cx="1764792" cy="1261872"/>
          </a:xfrm>
          <a:prstGeom prst="rect">
            <a:avLst/>
          </a:prstGeom>
          <a:solidFill>
            <a:srgbClr val="102A48"/>
          </a:solidFill>
          <a:ln>
            <a:solidFill>
              <a:srgbClr val="6D5CE8"/>
            </a:solidFill>
          </a:ln>
          <a:effectLst>
            <a:outerShdw sx="100000" sy="100000" kx="0" ky="0" algn="bl" rotWithShape="0" blurRad="1.7189509497218795e+37" dist="6.016328324026578e+36" dir="4.5349632000000006e+44">
              <a:srgbClr val="000000">
                <a:alpha val="1.6e+44"/>
              </a:srgbClr>
            </a:outerShdw>
          </a:effectLst>
        </p:spPr>
        <p:txBody>
          <a:bodyPr wrap="square" lIns="1778" tIns="1651" rIns="1651" bIns="1524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3</a:t>
            </a:r>
            <a:endParaRPr lang="en-US" sz="1000" dirty="0"/>
          </a:p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</a:rPr>
              <a:t>Local AI router</a:t>
            </a:r>
            <a:endParaRPr lang="en-US" sz="1000" dirty="0"/>
          </a:p>
          <a:p>
            <a:pPr indent="0" marL="0">
              <a:buNone/>
            </a:pPr>
            <a:r>
              <a:rPr lang="en-US" sz="950" dirty="0">
                <a:solidFill>
                  <a:srgbClr val="BDD0E3"/>
                </a:solidFill>
              </a:rPr>
              <a:t>Intent and entity extraction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6121908" y="2834640"/>
            <a:ext cx="96012" cy="347472"/>
          </a:xfrm>
          <a:prstGeom prst="chevron">
            <a:avLst/>
          </a:prstGeom>
          <a:solidFill>
            <a:srgbClr val="4D7090"/>
          </a:solidFill>
          <a:ln w="12700">
            <a:solidFill>
              <a:srgbClr val="4D709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227064" y="2404872"/>
            <a:ext cx="1764792" cy="1261872"/>
          </a:xfrm>
          <a:prstGeom prst="rect">
            <a:avLst/>
          </a:prstGeom>
          <a:solidFill>
            <a:srgbClr val="102A48"/>
          </a:solidFill>
          <a:ln>
            <a:solidFill>
              <a:srgbClr val="F28C28"/>
            </a:solidFill>
          </a:ln>
          <a:effectLst>
            <a:outerShdw sx="100000" sy="100000" kx="0" ky="0" algn="bl" rotWithShape="0" blurRad="2.183067706146787e+41" dist="7.640736971513754e+40" dir="2.72097792e+49">
              <a:srgbClr val="000000">
                <a:alpha val="1.6e+49"/>
              </a:srgbClr>
            </a:outerShdw>
          </a:effectLst>
        </p:spPr>
        <p:txBody>
          <a:bodyPr wrap="square" lIns="1778" tIns="1651" rIns="1651" bIns="1524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4</a:t>
            </a:r>
            <a:endParaRPr lang="en-US" sz="1000" dirty="0"/>
          </a:p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</a:rPr>
              <a:t>Query plan</a:t>
            </a:r>
            <a:endParaRPr lang="en-US" sz="1000" dirty="0"/>
          </a:p>
          <a:p>
            <a:pPr indent="0" marL="0">
              <a:buNone/>
            </a:pPr>
            <a:r>
              <a:rPr lang="en-US" sz="950" dirty="0">
                <a:solidFill>
                  <a:srgbClr val="BDD0E3"/>
                </a:solidFill>
              </a:rPr>
              <a:t>Structured and allowlisted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8014716" y="2834640"/>
            <a:ext cx="96012" cy="347472"/>
          </a:xfrm>
          <a:prstGeom prst="chevron">
            <a:avLst/>
          </a:prstGeom>
          <a:solidFill>
            <a:srgbClr val="4D7090"/>
          </a:solidFill>
          <a:ln w="12700">
            <a:solidFill>
              <a:srgbClr val="4D709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8119872" y="2404872"/>
            <a:ext cx="1764792" cy="1261872"/>
          </a:xfrm>
          <a:prstGeom prst="rect">
            <a:avLst/>
          </a:prstGeom>
          <a:solidFill>
            <a:srgbClr val="102A48"/>
          </a:solidFill>
          <a:ln>
            <a:solidFill>
              <a:srgbClr val="118A63"/>
            </a:solidFill>
          </a:ln>
          <a:effectLst>
            <a:outerShdw sx="100000" sy="100000" kx="0" ky="0" algn="bl" rotWithShape="0" blurRad="2.7724959868064195e+45" dist="9.703735953822467e+44" dir="1.6325867520000003e+54">
              <a:srgbClr val="000000">
                <a:alpha val="1.6e+54"/>
              </a:srgbClr>
            </a:outerShdw>
          </a:effectLst>
        </p:spPr>
        <p:txBody>
          <a:bodyPr wrap="square" lIns="1778" tIns="1651" rIns="1651" bIns="1524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5</a:t>
            </a:r>
            <a:endParaRPr lang="en-US" sz="1000" dirty="0"/>
          </a:p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</a:rPr>
              <a:t>Pandas executor</a:t>
            </a:r>
            <a:endParaRPr lang="en-US" sz="1000" dirty="0"/>
          </a:p>
          <a:p>
            <a:pPr indent="0" marL="0">
              <a:buNone/>
            </a:pPr>
            <a:r>
              <a:rPr lang="en-US" sz="950" dirty="0">
                <a:solidFill>
                  <a:srgbClr val="BDD0E3"/>
                </a:solidFill>
              </a:rPr>
              <a:t>Deterministic calculation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9907524" y="2834640"/>
            <a:ext cx="96012" cy="347472"/>
          </a:xfrm>
          <a:prstGeom prst="chevron">
            <a:avLst/>
          </a:prstGeom>
          <a:solidFill>
            <a:srgbClr val="4D7090"/>
          </a:solidFill>
          <a:ln w="12700">
            <a:solidFill>
              <a:srgbClr val="4D7090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10012680" y="2404872"/>
            <a:ext cx="1764792" cy="1261872"/>
          </a:xfrm>
          <a:prstGeom prst="rect">
            <a:avLst/>
          </a:prstGeom>
          <a:solidFill>
            <a:srgbClr val="102A48"/>
          </a:solidFill>
          <a:ln>
            <a:solidFill>
              <a:srgbClr val="2F6BFF"/>
            </a:solidFill>
          </a:ln>
          <a:effectLst>
            <a:outerShdw sx="100000" sy="100000" kx="0" ky="0" algn="bl" rotWithShape="0" blurRad="3.5210699032441527e+49" dist="1.2323744661354533e+49" dir="9.795520512000002e+58">
              <a:srgbClr val="000000">
                <a:alpha val="1.6e+59"/>
              </a:srgbClr>
            </a:outerShdw>
          </a:effectLst>
        </p:spPr>
        <p:txBody>
          <a:bodyPr wrap="square" lIns="1778" tIns="1651" rIns="1651" bIns="1524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6</a:t>
            </a:r>
            <a:endParaRPr lang="en-US" sz="1000" dirty="0"/>
          </a:p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</a:rPr>
              <a:t>Proof output</a:t>
            </a:r>
            <a:endParaRPr lang="en-US" sz="1000" dirty="0"/>
          </a:p>
          <a:p>
            <a:pPr indent="0" marL="0">
              <a:buNone/>
            </a:pPr>
            <a:r>
              <a:rPr lang="en-US" sz="950" dirty="0">
                <a:solidFill>
                  <a:srgbClr val="BDD0E3"/>
                </a:solidFill>
              </a:rPr>
              <a:t>Chart, table, confidence, audit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6236208" y="4160520"/>
            <a:ext cx="0" cy="1399032"/>
          </a:xfrm>
          <a:prstGeom prst="line">
            <a:avLst/>
          </a:prstGeom>
          <a:noFill/>
          <a:ln w="12700">
            <a:solidFill>
              <a:srgbClr val="118A63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5504688" y="3803904"/>
            <a:ext cx="1463040" cy="310896"/>
          </a:xfrm>
          <a:prstGeom prst="rect">
            <a:avLst/>
          </a:prstGeom>
          <a:solidFill>
            <a:srgbClr val="118A63"/>
          </a:solidFill>
          <a:ln>
            <a:solidFill>
              <a:srgbClr val="118A63"/>
            </a:solidFill>
          </a:ln>
        </p:spPr>
        <p:txBody>
          <a:bodyPr wrap="square" lIns="635" tIns="635" rIns="635" bIns="635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TRUST BOUNDARY</a:t>
            </a:r>
            <a:endParaRPr lang="en-US" sz="950" dirty="0"/>
          </a:p>
        </p:txBody>
      </p:sp>
      <p:sp>
        <p:nvSpPr>
          <p:cNvPr id="21" name="Text 19"/>
          <p:cNvSpPr/>
          <p:nvPr/>
        </p:nvSpPr>
        <p:spPr>
          <a:xfrm>
            <a:off x="676656" y="4352544"/>
            <a:ext cx="50749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The AI never writes or executes Python, SQL, `eval`, or `exec`.</a:t>
            </a:r>
            <a:endParaRPr lang="en-US" sz="1900" dirty="0"/>
          </a:p>
        </p:txBody>
      </p:sp>
      <p:sp>
        <p:nvSpPr>
          <p:cNvPr id="22" name="Text 20"/>
          <p:cNvSpPr/>
          <p:nvPr/>
        </p:nvSpPr>
        <p:spPr>
          <a:xfrm>
            <a:off x="676656" y="4910328"/>
            <a:ext cx="516636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80" dirty="0">
                <a:solidFill>
                  <a:srgbClr val="BDD0E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It creates a typed query plan. The validator rejects unsupported columns, operations, filters, and unsafe requests before calculation.</a:t>
            </a:r>
            <a:endParaRPr lang="en-US" sz="1280" dirty="0"/>
          </a:p>
        </p:txBody>
      </p:sp>
      <p:sp>
        <p:nvSpPr>
          <p:cNvPr id="23" name="Text 21"/>
          <p:cNvSpPr/>
          <p:nvPr/>
        </p:nvSpPr>
        <p:spPr>
          <a:xfrm>
            <a:off x="6601968" y="4224528"/>
            <a:ext cx="2221992" cy="1600200"/>
          </a:xfrm>
          <a:prstGeom prst="rect">
            <a:avLst/>
          </a:prstGeom>
          <a:solidFill>
            <a:srgbClr val="102A48"/>
          </a:solidFill>
          <a:ln>
            <a:solidFill>
              <a:srgbClr val="6D5CE8"/>
            </a:solidFill>
          </a:ln>
          <a:effectLst>
            <a:outerShdw sx="100000" sy="100000" kx="0" ky="0" algn="bl" rotWithShape="0" blurRad="4.471758777120074e+53" dist="1.5651155719920258e+53" dir="5.877312307200001e+63">
              <a:srgbClr val="000000">
                <a:alpha val="1.5999999999999998e+64"/>
              </a:srgbClr>
            </a:outerShdw>
          </a:effectLst>
        </p:spPr>
        <p:txBody>
          <a:bodyPr wrap="square" lIns="3048" tIns="3048" rIns="3048" bIns="2540" rtlCol="0" anchor="t"/>
          <a:lstStyle/>
          <a:p>
            <a:pPr indent="0" marL="0">
              <a:buNone/>
            </a:pPr>
            <a:r>
              <a:rPr lang="en-US" sz="1450" b="1" dirty="0">
                <a:solidFill>
                  <a:srgbClr val="FFFFFF"/>
                </a:solidFill>
              </a:rPr>
              <a:t>AI side</a:t>
            </a:r>
            <a:endParaRPr lang="en-US" sz="1450" dirty="0"/>
          </a:p>
          <a:p>
            <a:pPr indent="0" marL="0">
              <a:buNone/>
            </a:pPr>
            <a:r>
              <a:rPr lang="en-US" sz="1150" dirty="0">
                <a:solidFill>
                  <a:srgbClr val="C5D7E8"/>
                </a:solidFill>
              </a:rPr>
              <a:t>TF-IDF + logistic regression</a:t>
            </a:r>
            <a:endParaRPr lang="en-US" sz="1450" dirty="0"/>
          </a:p>
          <a:p>
            <a:pPr indent="0" marL="0">
              <a:buNone/>
            </a:pPr>
            <a:r>
              <a:rPr lang="en-US" sz="1150" dirty="0">
                <a:solidFill>
                  <a:srgbClr val="C5D7E8"/>
                </a:solidFill>
              </a:rPr>
              <a:t>Entity matching</a:t>
            </a:r>
            <a:endParaRPr lang="en-US" sz="1450" dirty="0"/>
          </a:p>
          <a:p>
            <a:pPr indent="0" marL="0">
              <a:buNone/>
            </a:pPr>
            <a:r>
              <a:rPr lang="en-US" sz="1150" dirty="0">
                <a:solidFill>
                  <a:srgbClr val="C5D7E8"/>
                </a:solidFill>
              </a:rPr>
              <a:t>Closest supported questions</a:t>
            </a:r>
            <a:endParaRPr lang="en-US" sz="1450" dirty="0"/>
          </a:p>
        </p:txBody>
      </p:sp>
      <p:sp>
        <p:nvSpPr>
          <p:cNvPr id="24" name="Text 22"/>
          <p:cNvSpPr/>
          <p:nvPr/>
        </p:nvSpPr>
        <p:spPr>
          <a:xfrm>
            <a:off x="9025128" y="4224528"/>
            <a:ext cx="2221992" cy="1600200"/>
          </a:xfrm>
          <a:prstGeom prst="rect">
            <a:avLst/>
          </a:prstGeom>
          <a:solidFill>
            <a:srgbClr val="102A48"/>
          </a:solidFill>
          <a:ln>
            <a:solidFill>
              <a:srgbClr val="118A63"/>
            </a:solidFill>
          </a:ln>
          <a:effectLst>
            <a:outerShdw sx="100000" sy="100000" kx="0" ky="0" algn="bl" rotWithShape="0" blurRad="5.679133646942494e+57" dist="1.9876967764298727e+57" dir="3.526387384320001e+68">
              <a:srgbClr val="000000">
                <a:alpha val="1.5999999999999997e+69"/>
              </a:srgbClr>
            </a:outerShdw>
          </a:effectLst>
        </p:spPr>
        <p:txBody>
          <a:bodyPr wrap="square" lIns="3048" tIns="3048" rIns="3048" bIns="2540" rtlCol="0" anchor="t"/>
          <a:lstStyle/>
          <a:p>
            <a:pPr indent="0" marL="0">
              <a:buNone/>
            </a:pPr>
            <a:r>
              <a:rPr lang="en-US" sz="1450" b="1" dirty="0">
                <a:solidFill>
                  <a:srgbClr val="FFFFFF"/>
                </a:solidFill>
              </a:rPr>
              <a:t>Code side</a:t>
            </a:r>
            <a:endParaRPr lang="en-US" sz="1450" dirty="0"/>
          </a:p>
          <a:p>
            <a:pPr indent="0" marL="0">
              <a:buNone/>
            </a:pPr>
            <a:r>
              <a:rPr lang="en-US" sz="1150" dirty="0">
                <a:solidFill>
                  <a:srgbClr val="C5D7E8"/>
                </a:solidFill>
              </a:rPr>
              <a:t>Validated filters</a:t>
            </a:r>
            <a:endParaRPr lang="en-US" sz="1450" dirty="0"/>
          </a:p>
          <a:p>
            <a:pPr indent="0" marL="0">
              <a:buNone/>
            </a:pPr>
            <a:r>
              <a:rPr lang="en-US" sz="1150" dirty="0">
                <a:solidFill>
                  <a:srgbClr val="C5D7E8"/>
                </a:solidFill>
              </a:rPr>
              <a:t>Pandas grouping and math</a:t>
            </a:r>
            <a:endParaRPr lang="en-US" sz="1450" dirty="0"/>
          </a:p>
          <a:p>
            <a:pPr indent="0" marL="0">
              <a:buNone/>
            </a:pPr>
            <a:r>
              <a:rPr lang="en-US" sz="1150" dirty="0">
                <a:solidFill>
                  <a:srgbClr val="C5D7E8"/>
                </a:solidFill>
              </a:rPr>
              <a:t>Evidence + confidence rules</a:t>
            </a:r>
            <a:endParaRPr lang="en-US" sz="1450" dirty="0"/>
          </a:p>
        </p:txBody>
      </p:sp>
      <p:sp>
        <p:nvSpPr>
          <p:cNvPr id="25" name="Text 23"/>
          <p:cNvSpPr/>
          <p:nvPr/>
        </p:nvSpPr>
        <p:spPr>
          <a:xfrm>
            <a:off x="566928" y="6455664"/>
            <a:ext cx="68580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EABC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Architecture is intentionally understandable: input → validation → AI routing → deterministic calculation → evidence.</a:t>
            </a:r>
            <a:endParaRPr lang="en-US" sz="8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84280" y="6419088"/>
            <a:ext cx="320040" cy="18288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A9C1D9"/>
                </a:solidFill>
                <a:latin typeface="Aptos"/>
                <a:ea typeface="Aptos"/>
                <a:cs typeface="Aptos"/>
              </a:defRPr>
            </a:lvl1pPr>
          </a:lstStyle>
          <a:p>
            <a:pPr algn="r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38912" y="292608"/>
            <a:ext cx="384048" cy="384048"/>
          </a:xfrm>
          <a:prstGeom prst="roundRect">
            <a:avLst>
              <a:gd name="adj" fmla="val 19048"/>
            </a:avLst>
          </a:prstGeom>
          <a:solidFill>
            <a:srgbClr val="118A63"/>
          </a:solidFill>
          <a:ln w="12700">
            <a:solidFill>
              <a:srgbClr val="118A6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48056" y="370332"/>
            <a:ext cx="36576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CP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932688" y="329184"/>
            <a:ext cx="18745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40" kern="0" dirty="0">
                <a:solidFill>
                  <a:srgbClr val="081C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CAREERPROOF AI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566928" y="749808"/>
            <a:ext cx="32918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80" kern="0" dirty="0">
                <a:solidFill>
                  <a:srgbClr val="118A6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LIVE RESULT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566928" y="1005840"/>
            <a:ext cx="80467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5263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A question becomes a verified answer</a:t>
            </a:r>
            <a:endParaRPr lang="en-US" sz="2700" dirty="0"/>
          </a:p>
        </p:txBody>
      </p:sp>
      <p:sp>
        <p:nvSpPr>
          <p:cNvPr id="7" name="Text 5"/>
          <p:cNvSpPr/>
          <p:nvPr/>
        </p:nvSpPr>
        <p:spPr>
          <a:xfrm>
            <a:off x="566928" y="1572768"/>
            <a:ext cx="98755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C6B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What are the ten most requested skills for remote jobs?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566928" y="2121408"/>
            <a:ext cx="6519672" cy="3931920"/>
          </a:xfrm>
          <a:prstGeom prst="roundRect">
            <a:avLst>
              <a:gd name="adj" fmla="val 4186"/>
            </a:avLst>
          </a:prstGeom>
          <a:solidFill>
            <a:srgbClr val="FFFFFF"/>
          </a:solidFill>
          <a:ln w="12700">
            <a:solidFill>
              <a:srgbClr val="D9E2EC"/>
            </a:solidFill>
            <a:prstDash val="solid"/>
          </a:ln>
          <a:effectLst>
            <a:outerShdw sx="100000" sy="100000" kx="0" ky="0" algn="bl" rotWithShape="0" blurRad="7.212499731616968e+61" dist="2.5243749060659382e+61" dir="2.1158324305920003e+73">
              <a:srgbClr val="000000">
                <a:alpha val="1.5999999999999997e+74"/>
              </a:srgbClr>
            </a:outerShdw>
          </a:effectLst>
        </p:spPr>
      </p:sp>
      <p:pic>
        <p:nvPicPr>
          <p:cNvPr id="9" name="Image 0" descr="/mnt/data/careerproof-ai/docs/assets/screenshots/dashboard.png">    </p:cNvPr>
          <p:cNvPicPr>
            <a:picLocks noChangeAspect="1"/>
          </p:cNvPicPr>
          <p:nvPr/>
        </p:nvPicPr>
        <p:blipFill>
          <a:blip r:embed="rId1"/>
          <a:srcRect l="0" r="0" t="5383" b="5383"/>
          <a:stretch/>
        </p:blipFill>
        <p:spPr>
          <a:xfrm>
            <a:off x="731520" y="2286000"/>
            <a:ext cx="6190488" cy="3611880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7406640" y="2139696"/>
            <a:ext cx="1572768" cy="310896"/>
          </a:xfrm>
          <a:prstGeom prst="rect">
            <a:avLst/>
          </a:prstGeom>
          <a:solidFill>
            <a:srgbClr val="118A63"/>
          </a:solidFill>
          <a:ln>
            <a:solidFill>
              <a:srgbClr val="118A63"/>
            </a:solidFill>
          </a:ln>
        </p:spPr>
        <p:txBody>
          <a:bodyPr wrap="square" lIns="635" tIns="635" rIns="635" bIns="635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HIGH CONFIDENCE</a:t>
            </a:r>
            <a:endParaRPr lang="en-US" sz="950" dirty="0"/>
          </a:p>
        </p:txBody>
      </p:sp>
      <p:sp>
        <p:nvSpPr>
          <p:cNvPr id="11" name="Text 8"/>
          <p:cNvSpPr/>
          <p:nvPr/>
        </p:nvSpPr>
        <p:spPr>
          <a:xfrm>
            <a:off x="7406640" y="2651760"/>
            <a:ext cx="411480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15263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Project Management is the strongest signal in 122 postings</a:t>
            </a:r>
            <a:endParaRPr lang="en-US" sz="2300" dirty="0"/>
          </a:p>
        </p:txBody>
      </p:sp>
      <p:sp>
        <p:nvSpPr>
          <p:cNvPr id="12" name="Text 9"/>
          <p:cNvSpPr/>
          <p:nvPr/>
        </p:nvSpPr>
        <p:spPr>
          <a:xfrm>
            <a:off x="7406640" y="3602736"/>
            <a:ext cx="40690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30" dirty="0">
                <a:solidFill>
                  <a:srgbClr val="5C6B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Exploded unique skills from 223 matching postings, counted each skill at most once per posting, and returned the top 10.</a:t>
            </a:r>
            <a:endParaRPr lang="en-US" sz="1230" dirty="0"/>
          </a:p>
        </p:txBody>
      </p:sp>
      <p:sp>
        <p:nvSpPr>
          <p:cNvPr id="13" name="Text 10"/>
          <p:cNvSpPr/>
          <p:nvPr/>
        </p:nvSpPr>
        <p:spPr>
          <a:xfrm>
            <a:off x="7406640" y="4425696"/>
            <a:ext cx="1892808" cy="877824"/>
          </a:xfrm>
          <a:prstGeom prst="rect">
            <a:avLst/>
          </a:prstGeom>
          <a:solidFill>
            <a:srgbClr val="FFFFFF"/>
          </a:solidFill>
          <a:ln>
            <a:solidFill>
              <a:srgbClr val="D9E2EC"/>
            </a:solidFill>
          </a:ln>
          <a:effectLst>
            <a:outerShdw sx="100000" sy="100000" kx="0" ky="0" algn="bl" rotWithShape="0" blurRad="9.15987465915355e+65" dist="3.2059561307037413e+65" dir="1.2694994583552002e+78">
              <a:srgbClr val="000000">
                <a:alpha val="1.5999999999999997e+79"/>
              </a:srgbClr>
            </a:outerShdw>
          </a:effectLst>
        </p:spPr>
        <p:txBody>
          <a:bodyPr wrap="square" lIns="2032" tIns="2032" rIns="2032" bIns="127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15263A"/>
                </a:solidFill>
              </a:rPr>
              <a:t>223</a:t>
            </a:r>
            <a:endParaRPr lang="en-US" sz="2300" dirty="0"/>
          </a:p>
          <a:p>
            <a:pPr indent="0" marL="0">
              <a:buNone/>
            </a:pPr>
            <a:r>
              <a:rPr lang="en-US" sz="1050" dirty="0">
                <a:solidFill>
                  <a:srgbClr val="5C6B7A"/>
                </a:solidFill>
              </a:rPr>
              <a:t>matching remote postings</a:t>
            </a:r>
            <a:endParaRPr lang="en-US" sz="2300" dirty="0"/>
          </a:p>
        </p:txBody>
      </p:sp>
      <p:sp>
        <p:nvSpPr>
          <p:cNvPr id="14" name="Shape 11"/>
          <p:cNvSpPr/>
          <p:nvPr/>
        </p:nvSpPr>
        <p:spPr>
          <a:xfrm>
            <a:off x="7406640" y="4425696"/>
            <a:ext cx="50292" cy="877824"/>
          </a:xfrm>
          <a:prstGeom prst="rect">
            <a:avLst/>
          </a:prstGeom>
          <a:solidFill>
            <a:srgbClr val="2F6BFF"/>
          </a:solidFill>
          <a:ln w="12700">
            <a:solidFill>
              <a:srgbClr val="2F6BFF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9509760" y="4425696"/>
            <a:ext cx="1901952" cy="877824"/>
          </a:xfrm>
          <a:prstGeom prst="rect">
            <a:avLst/>
          </a:prstGeom>
          <a:solidFill>
            <a:srgbClr val="FFFFFF"/>
          </a:solidFill>
          <a:ln>
            <a:solidFill>
              <a:srgbClr val="D9E2EC"/>
            </a:solidFill>
          </a:ln>
          <a:effectLst>
            <a:outerShdw sx="100000" sy="100000" kx="0" ky="0" algn="bl" rotWithShape="0" blurRad="1.1633040817125008e+70" dist="4.071564285993752e+69" dir="7.616996750131201e+82">
              <a:srgbClr val="000000">
                <a:alpha val="1.5999999999999996e+84"/>
              </a:srgbClr>
            </a:outerShdw>
          </a:effectLst>
        </p:spPr>
        <p:txBody>
          <a:bodyPr wrap="square" lIns="2032" tIns="2032" rIns="2032" bIns="127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15263A"/>
                </a:solidFill>
              </a:rPr>
              <a:t>89/100</a:t>
            </a:r>
            <a:endParaRPr lang="en-US" sz="2300" dirty="0"/>
          </a:p>
          <a:p>
            <a:pPr indent="0" marL="0">
              <a:buNone/>
            </a:pPr>
            <a:r>
              <a:rPr lang="en-US" sz="1050" dirty="0">
                <a:solidFill>
                  <a:srgbClr val="5C6B7A"/>
                </a:solidFill>
              </a:rPr>
              <a:t>evidence-based confidence</a:t>
            </a:r>
            <a:endParaRPr lang="en-US" sz="2300" dirty="0"/>
          </a:p>
        </p:txBody>
      </p:sp>
      <p:sp>
        <p:nvSpPr>
          <p:cNvPr id="16" name="Shape 13"/>
          <p:cNvSpPr/>
          <p:nvPr/>
        </p:nvSpPr>
        <p:spPr>
          <a:xfrm>
            <a:off x="9509760" y="4425696"/>
            <a:ext cx="50292" cy="877824"/>
          </a:xfrm>
          <a:prstGeom prst="rect">
            <a:avLst/>
          </a:prstGeom>
          <a:solidFill>
            <a:srgbClr val="118A63"/>
          </a:solidFill>
          <a:ln w="12700">
            <a:solidFill>
              <a:srgbClr val="118A63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7406640" y="5504688"/>
            <a:ext cx="144475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5C6B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Evidence Passport</a:t>
            </a:r>
            <a:endParaRPr lang="en-US" sz="1000" dirty="0"/>
          </a:p>
        </p:txBody>
      </p:sp>
      <p:sp>
        <p:nvSpPr>
          <p:cNvPr id="18" name="Text 15"/>
          <p:cNvSpPr/>
          <p:nvPr/>
        </p:nvSpPr>
        <p:spPr>
          <a:xfrm>
            <a:off x="8887968" y="5468112"/>
            <a:ext cx="25237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2F6B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CP-88B4ACE97069E1CF</a:t>
            </a:r>
            <a:endParaRPr lang="en-US" sz="1250" dirty="0"/>
          </a:p>
        </p:txBody>
      </p:sp>
      <p:sp>
        <p:nvSpPr>
          <p:cNvPr id="19" name="Text 16"/>
          <p:cNvSpPr/>
          <p:nvPr/>
        </p:nvSpPr>
        <p:spPr>
          <a:xfrm>
            <a:off x="7406640" y="5833872"/>
            <a:ext cx="404164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C6B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 same result can be inspected as a chart, table, source-row preview, query-plan JSON, masked CSV, and portable HTML report.</a:t>
            </a:r>
            <a:endParaRPr lang="en-US" sz="1050" dirty="0"/>
          </a:p>
        </p:txBody>
      </p:sp>
      <p:sp>
        <p:nvSpPr>
          <p:cNvPr id="20" name="Text 17"/>
          <p:cNvSpPr/>
          <p:nvPr/>
        </p:nvSpPr>
        <p:spPr>
          <a:xfrm>
            <a:off x="566928" y="6455664"/>
            <a:ext cx="68580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7B879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Demo result is calculated from the bundled synthetic dataset, not generated from model memory.</a:t>
            </a:r>
            <a:endParaRPr lang="en-US" sz="8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84280" y="6419088"/>
            <a:ext cx="320040" cy="18288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718096"/>
                </a:solidFill>
                <a:latin typeface="Aptos"/>
                <a:ea typeface="Aptos"/>
                <a:cs typeface="Aptos"/>
              </a:defRPr>
            </a:lvl1pPr>
          </a:lstStyle>
          <a:p>
            <a:pPr algn="r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38912" y="292608"/>
            <a:ext cx="384048" cy="384048"/>
          </a:xfrm>
          <a:prstGeom prst="roundRect">
            <a:avLst>
              <a:gd name="adj" fmla="val 19048"/>
            </a:avLst>
          </a:prstGeom>
          <a:solidFill>
            <a:srgbClr val="118A63"/>
          </a:solidFill>
          <a:ln w="12700">
            <a:solidFill>
              <a:srgbClr val="118A6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48056" y="370332"/>
            <a:ext cx="36576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CP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932688" y="329184"/>
            <a:ext cx="18745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40" kern="0" dirty="0">
                <a:solidFill>
                  <a:srgbClr val="081C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CAREERPROOF AI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566928" y="749808"/>
            <a:ext cx="32918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80" kern="0" dirty="0">
                <a:solidFill>
                  <a:srgbClr val="118A6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EVIDENCE PASSPORT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566928" y="1005840"/>
            <a:ext cx="80467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5263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The answer is only the beginning</a:t>
            </a:r>
            <a:endParaRPr lang="en-US" sz="2700" dirty="0"/>
          </a:p>
        </p:txBody>
      </p:sp>
      <p:sp>
        <p:nvSpPr>
          <p:cNvPr id="7" name="Text 5"/>
          <p:cNvSpPr/>
          <p:nvPr/>
        </p:nvSpPr>
        <p:spPr>
          <a:xfrm>
            <a:off x="566928" y="1572768"/>
            <a:ext cx="98755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C6B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Each result exposes how it was produced, what data it used, and where uncertainty remains.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640080" y="2103120"/>
            <a:ext cx="2926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30" kern="0" dirty="0">
                <a:solidFill>
                  <a:srgbClr val="5C6B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TOP SIGNALS IN REMOTE POSTINGS</a:t>
            </a:r>
            <a:endParaRPr lang="en-US" sz="1050" dirty="0"/>
          </a:p>
        </p:txBody>
      </p:sp>
      <p:sp>
        <p:nvSpPr>
          <p:cNvPr id="9" name="Text 7"/>
          <p:cNvSpPr/>
          <p:nvPr/>
        </p:nvSpPr>
        <p:spPr>
          <a:xfrm>
            <a:off x="640080" y="2542032"/>
            <a:ext cx="152704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526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Project Management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2212848" y="2496312"/>
            <a:ext cx="2971800" cy="274320"/>
          </a:xfrm>
          <a:prstGeom prst="roundRect">
            <a:avLst>
              <a:gd name="adj" fmla="val 33333"/>
            </a:avLst>
          </a:prstGeom>
          <a:solidFill>
            <a:srgbClr val="E7EDF5"/>
          </a:solidFill>
          <a:ln w="12700">
            <a:solidFill>
              <a:srgbClr val="E7EDF5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2212848" y="2496312"/>
            <a:ext cx="2971800" cy="274320"/>
          </a:xfrm>
          <a:prstGeom prst="roundRect">
            <a:avLst>
              <a:gd name="adj" fmla="val 33333"/>
            </a:avLst>
          </a:prstGeom>
          <a:solidFill>
            <a:srgbClr val="118A63"/>
          </a:solidFill>
          <a:ln w="12700">
            <a:solidFill>
              <a:srgbClr val="118A63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321808" y="2514600"/>
            <a:ext cx="40233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b="1" dirty="0">
                <a:solidFill>
                  <a:srgbClr val="1526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122</a:t>
            </a:r>
            <a:endParaRPr lang="en-US" sz="1050" dirty="0"/>
          </a:p>
        </p:txBody>
      </p:sp>
      <p:sp>
        <p:nvSpPr>
          <p:cNvPr id="13" name="Text 11"/>
          <p:cNvSpPr/>
          <p:nvPr/>
        </p:nvSpPr>
        <p:spPr>
          <a:xfrm>
            <a:off x="640080" y="3044952"/>
            <a:ext cx="152704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526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Azure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2212848" y="2999232"/>
            <a:ext cx="2971800" cy="274320"/>
          </a:xfrm>
          <a:prstGeom prst="roundRect">
            <a:avLst>
              <a:gd name="adj" fmla="val 33333"/>
            </a:avLst>
          </a:prstGeom>
          <a:solidFill>
            <a:srgbClr val="E7EDF5"/>
          </a:solidFill>
          <a:ln w="12700">
            <a:solidFill>
              <a:srgbClr val="E7EDF5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2212848" y="2999232"/>
            <a:ext cx="2947441" cy="274320"/>
          </a:xfrm>
          <a:prstGeom prst="roundRect">
            <a:avLst>
              <a:gd name="adj" fmla="val 33333"/>
            </a:avLst>
          </a:prstGeom>
          <a:solidFill>
            <a:srgbClr val="2F6BFF"/>
          </a:solidFill>
          <a:ln w="12700">
            <a:solidFill>
              <a:srgbClr val="2F6BFF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321808" y="3017520"/>
            <a:ext cx="40233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b="1" dirty="0">
                <a:solidFill>
                  <a:srgbClr val="1526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121</a:t>
            </a:r>
            <a:endParaRPr lang="en-US" sz="1050" dirty="0"/>
          </a:p>
        </p:txBody>
      </p:sp>
      <p:sp>
        <p:nvSpPr>
          <p:cNvPr id="17" name="Text 15"/>
          <p:cNvSpPr/>
          <p:nvPr/>
        </p:nvSpPr>
        <p:spPr>
          <a:xfrm>
            <a:off x="640080" y="3547872"/>
            <a:ext cx="152704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526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Git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2212848" y="3502152"/>
            <a:ext cx="2971800" cy="274320"/>
          </a:xfrm>
          <a:prstGeom prst="roundRect">
            <a:avLst>
              <a:gd name="adj" fmla="val 33333"/>
            </a:avLst>
          </a:prstGeom>
          <a:solidFill>
            <a:srgbClr val="E7EDF5"/>
          </a:solidFill>
          <a:ln w="12700">
            <a:solidFill>
              <a:srgbClr val="E7EDF5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2212848" y="3502152"/>
            <a:ext cx="2898723" cy="274320"/>
          </a:xfrm>
          <a:prstGeom prst="roundRect">
            <a:avLst>
              <a:gd name="adj" fmla="val 33333"/>
            </a:avLst>
          </a:prstGeom>
          <a:solidFill>
            <a:srgbClr val="2F6BFF"/>
          </a:solidFill>
          <a:ln w="12700">
            <a:solidFill>
              <a:srgbClr val="2F6BFF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5321808" y="3520440"/>
            <a:ext cx="40233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b="1" dirty="0">
                <a:solidFill>
                  <a:srgbClr val="1526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119</a:t>
            </a:r>
            <a:endParaRPr lang="en-US" sz="1050" dirty="0"/>
          </a:p>
        </p:txBody>
      </p:sp>
      <p:sp>
        <p:nvSpPr>
          <p:cNvPr id="21" name="Text 19"/>
          <p:cNvSpPr/>
          <p:nvPr/>
        </p:nvSpPr>
        <p:spPr>
          <a:xfrm>
            <a:off x="640080" y="4050792"/>
            <a:ext cx="152704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526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Communication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2212848" y="4005072"/>
            <a:ext cx="2971800" cy="274320"/>
          </a:xfrm>
          <a:prstGeom prst="roundRect">
            <a:avLst>
              <a:gd name="adj" fmla="val 33333"/>
            </a:avLst>
          </a:prstGeom>
          <a:solidFill>
            <a:srgbClr val="E7EDF5"/>
          </a:solidFill>
          <a:ln w="12700">
            <a:solidFill>
              <a:srgbClr val="E7EDF5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2212848" y="4005072"/>
            <a:ext cx="2606415" cy="274320"/>
          </a:xfrm>
          <a:prstGeom prst="roundRect">
            <a:avLst>
              <a:gd name="adj" fmla="val 33333"/>
            </a:avLst>
          </a:prstGeom>
          <a:solidFill>
            <a:srgbClr val="2F6BFF"/>
          </a:solidFill>
          <a:ln w="12700">
            <a:solidFill>
              <a:srgbClr val="2F6BFF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5321808" y="4023360"/>
            <a:ext cx="40233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b="1" dirty="0">
                <a:solidFill>
                  <a:srgbClr val="1526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107</a:t>
            </a:r>
            <a:endParaRPr lang="en-US" sz="1050" dirty="0"/>
          </a:p>
        </p:txBody>
      </p:sp>
      <p:sp>
        <p:nvSpPr>
          <p:cNvPr id="25" name="Text 23"/>
          <p:cNvSpPr/>
          <p:nvPr/>
        </p:nvSpPr>
        <p:spPr>
          <a:xfrm>
            <a:off x="640080" y="4553712"/>
            <a:ext cx="152704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526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AWS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2212848" y="4507992"/>
            <a:ext cx="2971800" cy="274320"/>
          </a:xfrm>
          <a:prstGeom prst="roundRect">
            <a:avLst>
              <a:gd name="adj" fmla="val 33333"/>
            </a:avLst>
          </a:prstGeom>
          <a:solidFill>
            <a:srgbClr val="E7EDF5"/>
          </a:solidFill>
          <a:ln w="12700">
            <a:solidFill>
              <a:srgbClr val="E7EDF5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2212848" y="4507992"/>
            <a:ext cx="2484620" cy="274320"/>
          </a:xfrm>
          <a:prstGeom prst="roundRect">
            <a:avLst>
              <a:gd name="adj" fmla="val 33333"/>
            </a:avLst>
          </a:prstGeom>
          <a:solidFill>
            <a:srgbClr val="2F6BFF"/>
          </a:solidFill>
          <a:ln w="12700">
            <a:solidFill>
              <a:srgbClr val="2F6BFF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5321808" y="4526280"/>
            <a:ext cx="40233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b="1" dirty="0">
                <a:solidFill>
                  <a:srgbClr val="1526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102</a:t>
            </a:r>
            <a:endParaRPr lang="en-US" sz="1050" dirty="0"/>
          </a:p>
        </p:txBody>
      </p:sp>
      <p:sp>
        <p:nvSpPr>
          <p:cNvPr id="29" name="Text 27"/>
          <p:cNvSpPr/>
          <p:nvPr/>
        </p:nvSpPr>
        <p:spPr>
          <a:xfrm>
            <a:off x="6172200" y="2103120"/>
            <a:ext cx="20116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30" kern="0" dirty="0">
                <a:solidFill>
                  <a:srgbClr val="5C6B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VISIBLE QUERY PLAN</a:t>
            </a:r>
            <a:endParaRPr lang="en-US" sz="1050" dirty="0"/>
          </a:p>
        </p:txBody>
      </p:sp>
      <p:sp>
        <p:nvSpPr>
          <p:cNvPr id="30" name="Text 28"/>
          <p:cNvSpPr/>
          <p:nvPr/>
        </p:nvSpPr>
        <p:spPr>
          <a:xfrm>
            <a:off x="6172200" y="2505456"/>
            <a:ext cx="5349240" cy="1901952"/>
          </a:xfrm>
          <a:prstGeom prst="rect">
            <a:avLst/>
          </a:prstGeom>
          <a:solidFill>
            <a:srgbClr val="081C33"/>
          </a:solidFill>
          <a:ln>
            <a:solidFill>
              <a:srgbClr val="244A6A"/>
            </a:solidFill>
          </a:ln>
        </p:spPr>
        <p:txBody>
          <a:bodyPr wrap="square" lIns="2794" tIns="2794" rIns="2794" bIns="2794" rtlCol="0" anchor="ctr"/>
          <a:lstStyle/>
          <a:p>
            <a:pPr indent="0" marL="0">
              <a:buNone/>
            </a:pPr>
            <a:r>
              <a:rPr lang="en-US" sz="1240" dirty="0">
                <a:solidFill>
                  <a:srgbClr val="DDF2FF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{</a:t>
            </a:r>
            <a:endParaRPr lang="en-US" sz="1240" dirty="0"/>
          </a:p>
          <a:p>
            <a:pPr indent="0" marL="0">
              <a:buNone/>
            </a:pPr>
            <a:r>
              <a:rPr lang="en-US" sz="1240" dirty="0">
                <a:solidFill>
                  <a:srgbClr val="DDF2FF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  "intent": "skill_frequency",</a:t>
            </a:r>
            <a:endParaRPr lang="en-US" sz="1240" dirty="0"/>
          </a:p>
          <a:p>
            <a:pPr indent="0" marL="0">
              <a:buNone/>
            </a:pPr>
            <a:r>
              <a:rPr lang="en-US" sz="1240" dirty="0">
                <a:solidFill>
                  <a:srgbClr val="DDF2FF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  "filters": ["work_mode = Remote"],</a:t>
            </a:r>
            <a:endParaRPr lang="en-US" sz="1240" dirty="0"/>
          </a:p>
          <a:p>
            <a:pPr indent="0" marL="0">
              <a:buNone/>
            </a:pPr>
            <a:r>
              <a:rPr lang="en-US" sz="1240" dirty="0">
                <a:solidFill>
                  <a:srgbClr val="DDF2FF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  "skill_columns": ["required_skills"],</a:t>
            </a:r>
            <a:endParaRPr lang="en-US" sz="1240" dirty="0"/>
          </a:p>
          <a:p>
            <a:pPr indent="0" marL="0">
              <a:buNone/>
            </a:pPr>
            <a:r>
              <a:rPr lang="en-US" sz="1240" dirty="0">
                <a:solidFill>
                  <a:srgbClr val="DDF2FF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  "limit": 10,</a:t>
            </a:r>
            <a:endParaRPr lang="en-US" sz="1240" dirty="0"/>
          </a:p>
          <a:p>
            <a:pPr indent="0" marL="0">
              <a:buNone/>
            </a:pPr>
            <a:r>
              <a:rPr lang="en-US" sz="1240" dirty="0">
                <a:solidFill>
                  <a:srgbClr val="DDF2FF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  "chart_type": "bar"</a:t>
            </a:r>
            <a:endParaRPr lang="en-US" sz="1240" dirty="0"/>
          </a:p>
          <a:p>
            <a:pPr indent="0" marL="0">
              <a:buNone/>
            </a:pPr>
            <a:r>
              <a:rPr lang="en-US" sz="1240" dirty="0">
                <a:solidFill>
                  <a:srgbClr val="DDF2FF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}</a:t>
            </a:r>
            <a:endParaRPr lang="en-US" sz="1240" dirty="0"/>
          </a:p>
        </p:txBody>
      </p:sp>
      <p:sp>
        <p:nvSpPr>
          <p:cNvPr id="31" name="Text 29"/>
          <p:cNvSpPr/>
          <p:nvPr/>
        </p:nvSpPr>
        <p:spPr>
          <a:xfrm>
            <a:off x="640080" y="4965192"/>
            <a:ext cx="3154680" cy="1060704"/>
          </a:xfrm>
          <a:prstGeom prst="rect">
            <a:avLst/>
          </a:prstGeom>
          <a:solidFill>
            <a:srgbClr val="FFFFFF"/>
          </a:solidFill>
          <a:ln>
            <a:solidFill>
              <a:srgbClr val="2F6BFF"/>
            </a:solidFill>
          </a:ln>
          <a:effectLst>
            <a:outerShdw sx="100000" sy="100000" kx="0" ky="0" algn="bl" rotWithShape="0" blurRad="1.477396183774876e+74" dist="5.1708866432120647e+73" dir="4.57019805007872e+87">
              <a:srgbClr val="000000">
                <a:alpha val="1.5999999999999997e+89"/>
              </a:srgbClr>
            </a:outerShdw>
          </a:effectLst>
        </p:spPr>
        <p:txBody>
          <a:bodyPr wrap="square" lIns="3048" tIns="3048" rIns="3048" bIns="2540" rtlCol="0" anchor="t"/>
          <a:lstStyle/>
          <a:p>
            <a:pPr indent="0" marL="0">
              <a:buNone/>
            </a:pPr>
            <a:r>
              <a:rPr lang="en-US" sz="1450" b="1" dirty="0">
                <a:solidFill>
                  <a:srgbClr val="15263A"/>
                </a:solidFill>
              </a:rPr>
              <a:t>Calculation</a:t>
            </a:r>
            <a:endParaRPr lang="en-US" sz="1450" dirty="0"/>
          </a:p>
          <a:p>
            <a:pPr indent="0" marL="0">
              <a:buNone/>
            </a:pPr>
            <a:r>
              <a:rPr lang="en-US" sz="1150" dirty="0">
                <a:solidFill>
                  <a:srgbClr val="5C6B7A"/>
                </a:solidFill>
              </a:rPr>
              <a:t>223 rows after filters</a:t>
            </a:r>
            <a:endParaRPr lang="en-US" sz="1450" dirty="0"/>
          </a:p>
          <a:p>
            <a:pPr indent="0" marL="0">
              <a:buNone/>
            </a:pPr>
            <a:r>
              <a:rPr lang="en-US" sz="1150" dirty="0">
                <a:solidFill>
                  <a:srgbClr val="5C6B7A"/>
                </a:solidFill>
              </a:rPr>
              <a:t>Each skill counted once per posting</a:t>
            </a:r>
            <a:endParaRPr lang="en-US" sz="1450" dirty="0"/>
          </a:p>
          <a:p>
            <a:pPr indent="0" marL="0">
              <a:buNone/>
            </a:pPr>
            <a:r>
              <a:rPr lang="en-US" sz="1150" dirty="0">
                <a:solidFill>
                  <a:srgbClr val="5C6B7A"/>
                </a:solidFill>
              </a:rPr>
              <a:t>Sorted by posting count</a:t>
            </a:r>
            <a:endParaRPr lang="en-US" sz="1450" dirty="0"/>
          </a:p>
        </p:txBody>
      </p:sp>
      <p:sp>
        <p:nvSpPr>
          <p:cNvPr id="32" name="Text 30"/>
          <p:cNvSpPr/>
          <p:nvPr/>
        </p:nvSpPr>
        <p:spPr>
          <a:xfrm>
            <a:off x="4014216" y="4965192"/>
            <a:ext cx="3154680" cy="1060704"/>
          </a:xfrm>
          <a:prstGeom prst="rect">
            <a:avLst/>
          </a:prstGeom>
          <a:solidFill>
            <a:srgbClr val="FFFFFF"/>
          </a:solidFill>
          <a:ln>
            <a:solidFill>
              <a:srgbClr val="118A63"/>
            </a:solidFill>
          </a:ln>
          <a:effectLst>
            <a:outerShdw sx="100000" sy="100000" kx="0" ky="0" algn="bl" rotWithShape="0" blurRad="1.8762931533940924e+78" dist="6.567026036879323e+77" dir="2.742118830047232e+92">
              <a:srgbClr val="000000">
                <a:alpha val="1.5999999999999997e+94"/>
              </a:srgbClr>
            </a:outerShdw>
          </a:effectLst>
        </p:spPr>
        <p:txBody>
          <a:bodyPr wrap="square" lIns="3048" tIns="3048" rIns="3048" bIns="2540" rtlCol="0" anchor="t"/>
          <a:lstStyle/>
          <a:p>
            <a:pPr indent="0" marL="0">
              <a:buNone/>
            </a:pPr>
            <a:r>
              <a:rPr lang="en-US" sz="1450" b="1" dirty="0">
                <a:solidFill>
                  <a:srgbClr val="15263A"/>
                </a:solidFill>
              </a:rPr>
              <a:t>Confidence</a:t>
            </a:r>
            <a:endParaRPr lang="en-US" sz="1450" dirty="0"/>
          </a:p>
          <a:p>
            <a:pPr indent="0" marL="0">
              <a:buNone/>
            </a:pPr>
            <a:r>
              <a:rPr lang="en-US" sz="1120" dirty="0">
                <a:solidFill>
                  <a:srgbClr val="5C6B7A"/>
                </a:solidFill>
              </a:rPr>
              <a:t>89/100</a:t>
            </a:r>
            <a:endParaRPr lang="en-US" sz="1450" dirty="0"/>
          </a:p>
          <a:p>
            <a:pPr indent="0" marL="0">
              <a:buNone/>
            </a:pPr>
            <a:r>
              <a:rPr lang="en-US" sz="1120" dirty="0">
                <a:solidFill>
                  <a:srgbClr val="5C6B7A"/>
                </a:solidFill>
              </a:rPr>
              <a:t>Driven by row count, completeness, intent certainty, and data-quality score</a:t>
            </a:r>
            <a:endParaRPr lang="en-US" sz="1450" dirty="0"/>
          </a:p>
        </p:txBody>
      </p:sp>
      <p:sp>
        <p:nvSpPr>
          <p:cNvPr id="33" name="Text 31"/>
          <p:cNvSpPr/>
          <p:nvPr/>
        </p:nvSpPr>
        <p:spPr>
          <a:xfrm>
            <a:off x="7388352" y="4965192"/>
            <a:ext cx="4133088" cy="1060704"/>
          </a:xfrm>
          <a:prstGeom prst="rect">
            <a:avLst/>
          </a:prstGeom>
          <a:solidFill>
            <a:srgbClr val="FFFFFF"/>
          </a:solidFill>
          <a:ln>
            <a:solidFill>
              <a:srgbClr val="6D5CE8"/>
            </a:solidFill>
          </a:ln>
          <a:effectLst>
            <a:outerShdw sx="100000" sy="100000" kx="0" ky="0" algn="bl" rotWithShape="0" blurRad="2.3828923048104974e+82" dist="8.34012306683674e+81" dir="1.6452712980283393e+97">
              <a:srgbClr val="000000">
                <a:alpha val="1.5999999999999998e+99"/>
              </a:srgbClr>
            </a:outerShdw>
          </a:effectLst>
        </p:spPr>
        <p:txBody>
          <a:bodyPr wrap="square" lIns="3048" tIns="3048" rIns="3048" bIns="2540" rtlCol="0" anchor="t"/>
          <a:lstStyle/>
          <a:p>
            <a:pPr indent="0" marL="0">
              <a:buNone/>
            </a:pPr>
            <a:r>
              <a:rPr lang="en-US" sz="1450" b="1" dirty="0">
                <a:solidFill>
                  <a:srgbClr val="15263A"/>
                </a:solidFill>
              </a:rPr>
              <a:t>Privacy</a:t>
            </a:r>
            <a:endParaRPr lang="en-US" sz="1450" dirty="0"/>
          </a:p>
          <a:p>
            <a:pPr indent="0" marL="0">
              <a:buNone/>
            </a:pPr>
            <a:r>
              <a:rPr lang="en-US" sz="1120" dirty="0">
                <a:solidFill>
                  <a:srgbClr val="5C6B7A"/>
                </a:solidFill>
              </a:rPr>
              <a:t>Names, emails, phone numbers, and source IDs are masked before the UI, report, export, or audit log.</a:t>
            </a:r>
            <a:endParaRPr lang="en-US" sz="1450" dirty="0"/>
          </a:p>
        </p:txBody>
      </p:sp>
      <p:sp>
        <p:nvSpPr>
          <p:cNvPr id="34" name="Text 32"/>
          <p:cNvSpPr/>
          <p:nvPr/>
        </p:nvSpPr>
        <p:spPr>
          <a:xfrm>
            <a:off x="566928" y="6455664"/>
            <a:ext cx="68580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7B879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Evidence ID CP-88B4ACE97069E1CF changes when the dataset, query plan, or result changes.</a:t>
            </a:r>
            <a:endParaRPr lang="en-US" sz="8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84280" y="6419088"/>
            <a:ext cx="320040" cy="18288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718096"/>
                </a:solidFill>
                <a:latin typeface="Aptos"/>
                <a:ea typeface="Aptos"/>
                <a:cs typeface="Aptos"/>
              </a:defRPr>
            </a:lvl1pPr>
          </a:lstStyle>
          <a:p>
            <a:pPr algn="r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38912" y="292608"/>
            <a:ext cx="384048" cy="384048"/>
          </a:xfrm>
          <a:prstGeom prst="roundRect">
            <a:avLst>
              <a:gd name="adj" fmla="val 19048"/>
            </a:avLst>
          </a:prstGeom>
          <a:solidFill>
            <a:srgbClr val="118A63"/>
          </a:solidFill>
          <a:ln w="12700">
            <a:solidFill>
              <a:srgbClr val="118A6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48056" y="370332"/>
            <a:ext cx="36576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CP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932688" y="329184"/>
            <a:ext cx="18745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40" kern="0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CAREERPROOF AI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566928" y="749808"/>
            <a:ext cx="32918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80" kern="0" dirty="0">
                <a:solidFill>
                  <a:srgbClr val="118A6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BEYOND THE MINIMUM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566928" y="1005840"/>
            <a:ext cx="80467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Four features that make the product memorable</a:t>
            </a:r>
            <a:endParaRPr lang="en-US" sz="2700" dirty="0"/>
          </a:p>
        </p:txBody>
      </p:sp>
      <p:sp>
        <p:nvSpPr>
          <p:cNvPr id="7" name="Text 5"/>
          <p:cNvSpPr/>
          <p:nvPr/>
        </p:nvSpPr>
        <p:spPr>
          <a:xfrm>
            <a:off x="566928" y="1572768"/>
            <a:ext cx="98755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BDD0E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Each feature adds practical value without weakening the trust model.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658368" y="2331720"/>
            <a:ext cx="402336" cy="402336"/>
          </a:xfrm>
          <a:prstGeom prst="ellipse">
            <a:avLst/>
          </a:prstGeom>
          <a:solidFill>
            <a:srgbClr val="102A48"/>
          </a:solidFill>
          <a:ln w="12700">
            <a:solidFill>
              <a:srgbClr val="2F6BF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72084" y="2427732"/>
            <a:ext cx="374904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2F6B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ID</a:t>
            </a:r>
            <a:endParaRPr lang="en-US" sz="950" dirty="0"/>
          </a:p>
        </p:txBody>
      </p:sp>
      <p:sp>
        <p:nvSpPr>
          <p:cNvPr id="10" name="Text 8"/>
          <p:cNvSpPr/>
          <p:nvPr/>
        </p:nvSpPr>
        <p:spPr>
          <a:xfrm>
            <a:off x="1243584" y="2240280"/>
            <a:ext cx="4160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Evidence Passport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1243584" y="2715768"/>
            <a:ext cx="438912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30" dirty="0">
                <a:solidFill>
                  <a:srgbClr val="BDD0E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Recompute the ID, then replay the validated plan when the active dataset matches.</a:t>
            </a:r>
            <a:endParaRPr lang="en-US" sz="1230" dirty="0"/>
          </a:p>
        </p:txBody>
      </p:sp>
      <p:sp>
        <p:nvSpPr>
          <p:cNvPr id="12" name="Shape 10"/>
          <p:cNvSpPr/>
          <p:nvPr/>
        </p:nvSpPr>
        <p:spPr>
          <a:xfrm>
            <a:off x="1243584" y="3611880"/>
            <a:ext cx="4425696" cy="0"/>
          </a:xfrm>
          <a:prstGeom prst="line">
            <a:avLst/>
          </a:prstGeom>
          <a:noFill/>
          <a:ln w="12700">
            <a:solidFill>
              <a:srgbClr val="294A68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6281928" y="2331720"/>
            <a:ext cx="402336" cy="402336"/>
          </a:xfrm>
          <a:prstGeom prst="ellipse">
            <a:avLst/>
          </a:prstGeom>
          <a:solidFill>
            <a:srgbClr val="102A48"/>
          </a:solidFill>
          <a:ln w="12700">
            <a:solidFill>
              <a:srgbClr val="F28C2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295644" y="2427732"/>
            <a:ext cx="374904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28C28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?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6867144" y="2240280"/>
            <a:ext cx="4160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Refusal Coach</a:t>
            </a:r>
            <a:endParaRPr lang="en-US" sz="1800" dirty="0"/>
          </a:p>
        </p:txBody>
      </p:sp>
      <p:sp>
        <p:nvSpPr>
          <p:cNvPr id="16" name="Text 14"/>
          <p:cNvSpPr/>
          <p:nvPr/>
        </p:nvSpPr>
        <p:spPr>
          <a:xfrm>
            <a:off x="6867144" y="2715768"/>
            <a:ext cx="438912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30" dirty="0">
                <a:solidFill>
                  <a:srgbClr val="BDD0E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Explains why a question is unsupported and suggests the closest answerable alternatives.</a:t>
            </a:r>
            <a:endParaRPr lang="en-US" sz="1230" dirty="0"/>
          </a:p>
        </p:txBody>
      </p:sp>
      <p:sp>
        <p:nvSpPr>
          <p:cNvPr id="17" name="Shape 15"/>
          <p:cNvSpPr/>
          <p:nvPr/>
        </p:nvSpPr>
        <p:spPr>
          <a:xfrm>
            <a:off x="6867144" y="3611880"/>
            <a:ext cx="4425696" cy="0"/>
          </a:xfrm>
          <a:prstGeom prst="line">
            <a:avLst/>
          </a:prstGeom>
          <a:noFill/>
          <a:ln w="12700">
            <a:solidFill>
              <a:srgbClr val="294A68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658368" y="4206240"/>
            <a:ext cx="402336" cy="402336"/>
          </a:xfrm>
          <a:prstGeom prst="ellipse">
            <a:avLst/>
          </a:prstGeom>
          <a:solidFill>
            <a:srgbClr val="102A48"/>
          </a:solidFill>
          <a:ln w="12700">
            <a:solidFill>
              <a:srgbClr val="118A63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72084" y="4302252"/>
            <a:ext cx="374904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118A6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SK</a:t>
            </a:r>
            <a:endParaRPr lang="en-US" sz="950" dirty="0"/>
          </a:p>
        </p:txBody>
      </p:sp>
      <p:sp>
        <p:nvSpPr>
          <p:cNvPr id="20" name="Text 18"/>
          <p:cNvSpPr/>
          <p:nvPr/>
        </p:nvSpPr>
        <p:spPr>
          <a:xfrm>
            <a:off x="1243584" y="4114800"/>
            <a:ext cx="4160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Career Signal Lab</a:t>
            </a:r>
            <a:endParaRPr lang="en-US" sz="1800" dirty="0"/>
          </a:p>
        </p:txBody>
      </p:sp>
      <p:sp>
        <p:nvSpPr>
          <p:cNvPr id="21" name="Text 19"/>
          <p:cNvSpPr/>
          <p:nvPr/>
        </p:nvSpPr>
        <p:spPr>
          <a:xfrm>
            <a:off x="1243584" y="4590288"/>
            <a:ext cx="438912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30" dirty="0">
                <a:solidFill>
                  <a:srgbClr val="BDD0E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Compares a user skill list with transparent role-level frequency signals. It is not a hiring score.</a:t>
            </a:r>
            <a:endParaRPr lang="en-US" sz="1230" dirty="0"/>
          </a:p>
        </p:txBody>
      </p:sp>
      <p:sp>
        <p:nvSpPr>
          <p:cNvPr id="22" name="Shape 20"/>
          <p:cNvSpPr/>
          <p:nvPr/>
        </p:nvSpPr>
        <p:spPr>
          <a:xfrm>
            <a:off x="1243584" y="5486400"/>
            <a:ext cx="4425696" cy="0"/>
          </a:xfrm>
          <a:prstGeom prst="line">
            <a:avLst/>
          </a:prstGeom>
          <a:noFill/>
          <a:ln w="12700">
            <a:solidFill>
              <a:srgbClr val="294A68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6281928" y="4206240"/>
            <a:ext cx="402336" cy="402336"/>
          </a:xfrm>
          <a:prstGeom prst="ellipse">
            <a:avLst/>
          </a:prstGeom>
          <a:solidFill>
            <a:srgbClr val="102A48"/>
          </a:solidFill>
          <a:ln w="12700">
            <a:solidFill>
              <a:srgbClr val="6D5CE8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6295644" y="4302252"/>
            <a:ext cx="374904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6D5CE8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QL</a:t>
            </a:r>
            <a:endParaRPr lang="en-US" sz="950" dirty="0"/>
          </a:p>
        </p:txBody>
      </p:sp>
      <p:sp>
        <p:nvSpPr>
          <p:cNvPr id="25" name="Text 23"/>
          <p:cNvSpPr/>
          <p:nvPr/>
        </p:nvSpPr>
        <p:spPr>
          <a:xfrm>
            <a:off x="6867144" y="4114800"/>
            <a:ext cx="4160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Cleaning Ledger</a:t>
            </a:r>
            <a:endParaRPr lang="en-US" sz="1800" dirty="0"/>
          </a:p>
        </p:txBody>
      </p:sp>
      <p:sp>
        <p:nvSpPr>
          <p:cNvPr id="26" name="Text 24"/>
          <p:cNvSpPr/>
          <p:nvPr/>
        </p:nvSpPr>
        <p:spPr>
          <a:xfrm>
            <a:off x="6867144" y="4590288"/>
            <a:ext cx="438912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30" dirty="0">
                <a:solidFill>
                  <a:srgbClr val="BDD0E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Shows every cleaning action, invalid row, missing field, and quality warning instead of hiding them.</a:t>
            </a:r>
            <a:endParaRPr lang="en-US" sz="1230" dirty="0"/>
          </a:p>
        </p:txBody>
      </p:sp>
      <p:sp>
        <p:nvSpPr>
          <p:cNvPr id="27" name="Shape 25"/>
          <p:cNvSpPr/>
          <p:nvPr/>
        </p:nvSpPr>
        <p:spPr>
          <a:xfrm>
            <a:off x="6867144" y="5486400"/>
            <a:ext cx="4425696" cy="0"/>
          </a:xfrm>
          <a:prstGeom prst="line">
            <a:avLst/>
          </a:prstGeom>
          <a:noFill/>
          <a:ln w="12700">
            <a:solidFill>
              <a:srgbClr val="294A68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658368" y="6035040"/>
            <a:ext cx="10515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8EABC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Also included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1810512" y="5961888"/>
            <a:ext cx="1591056" cy="310896"/>
          </a:xfrm>
          <a:prstGeom prst="rect">
            <a:avLst/>
          </a:prstGeom>
          <a:solidFill>
            <a:srgbClr val="102A48"/>
          </a:solidFill>
          <a:ln>
            <a:solidFill>
              <a:srgbClr val="102A48"/>
            </a:solidFill>
          </a:ln>
        </p:spPr>
        <p:txBody>
          <a:bodyPr wrap="square" lIns="635" tIns="635" rIns="635" bIns="635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SCENARIO COMPARE</a:t>
            </a:r>
            <a:endParaRPr lang="en-US" sz="900" dirty="0"/>
          </a:p>
        </p:txBody>
      </p:sp>
      <p:sp>
        <p:nvSpPr>
          <p:cNvPr id="30" name="Text 28"/>
          <p:cNvSpPr/>
          <p:nvPr/>
        </p:nvSpPr>
        <p:spPr>
          <a:xfrm>
            <a:off x="3547872" y="5961888"/>
            <a:ext cx="1572768" cy="310896"/>
          </a:xfrm>
          <a:prstGeom prst="rect">
            <a:avLst/>
          </a:prstGeom>
          <a:solidFill>
            <a:srgbClr val="102A48"/>
          </a:solidFill>
          <a:ln>
            <a:solidFill>
              <a:srgbClr val="102A48"/>
            </a:solidFill>
          </a:ln>
        </p:spPr>
        <p:txBody>
          <a:bodyPr wrap="square" lIns="635" tIns="635" rIns="635" bIns="635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MASKED AUDIT LOG</a:t>
            </a:r>
            <a:endParaRPr lang="en-US" sz="900" dirty="0"/>
          </a:p>
        </p:txBody>
      </p:sp>
      <p:sp>
        <p:nvSpPr>
          <p:cNvPr id="31" name="Text 29"/>
          <p:cNvSpPr/>
          <p:nvPr/>
        </p:nvSpPr>
        <p:spPr>
          <a:xfrm>
            <a:off x="5266944" y="5961888"/>
            <a:ext cx="1645920" cy="310896"/>
          </a:xfrm>
          <a:prstGeom prst="rect">
            <a:avLst/>
          </a:prstGeom>
          <a:solidFill>
            <a:srgbClr val="102A48"/>
          </a:solidFill>
          <a:ln>
            <a:solidFill>
              <a:srgbClr val="102A48"/>
            </a:solidFill>
          </a:ln>
        </p:spPr>
        <p:txBody>
          <a:bodyPr wrap="square" lIns="635" tIns="635" rIns="635" bIns="635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HTML REPORT EXPORT</a:t>
            </a:r>
            <a:endParaRPr lang="en-US" sz="900" dirty="0"/>
          </a:p>
        </p:txBody>
      </p:sp>
      <p:sp>
        <p:nvSpPr>
          <p:cNvPr id="32" name="Text 30"/>
          <p:cNvSpPr/>
          <p:nvPr/>
        </p:nvSpPr>
        <p:spPr>
          <a:xfrm>
            <a:off x="7059168" y="5961888"/>
            <a:ext cx="1600200" cy="310896"/>
          </a:xfrm>
          <a:prstGeom prst="rect">
            <a:avLst/>
          </a:prstGeom>
          <a:solidFill>
            <a:srgbClr val="102A48"/>
          </a:solidFill>
          <a:ln>
            <a:solidFill>
              <a:srgbClr val="102A48"/>
            </a:solidFill>
          </a:ln>
        </p:spPr>
        <p:txBody>
          <a:bodyPr wrap="square" lIns="635" tIns="635" rIns="635" bIns="635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NO API KEY REQUIRED</a:t>
            </a:r>
            <a:endParaRPr lang="en-US" sz="900" dirty="0"/>
          </a:p>
        </p:txBody>
      </p:sp>
      <p:sp>
        <p:nvSpPr>
          <p:cNvPr id="33" name="Text 31"/>
          <p:cNvSpPr/>
          <p:nvPr/>
        </p:nvSpPr>
        <p:spPr>
          <a:xfrm>
            <a:off x="8805672" y="5961888"/>
            <a:ext cx="1554480" cy="310896"/>
          </a:xfrm>
          <a:prstGeom prst="rect">
            <a:avLst/>
          </a:prstGeom>
          <a:solidFill>
            <a:srgbClr val="102A48"/>
          </a:solidFill>
          <a:ln>
            <a:solidFill>
              <a:srgbClr val="102A48"/>
            </a:solidFill>
          </a:ln>
        </p:spPr>
        <p:txBody>
          <a:bodyPr wrap="square" lIns="635" tIns="635" rIns="635" bIns="635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CSV / XLSX UPLOAD</a:t>
            </a:r>
            <a:endParaRPr lang="en-US" sz="900" dirty="0"/>
          </a:p>
        </p:txBody>
      </p:sp>
      <p:sp>
        <p:nvSpPr>
          <p:cNvPr id="34" name="Text 32"/>
          <p:cNvSpPr/>
          <p:nvPr/>
        </p:nvSpPr>
        <p:spPr>
          <a:xfrm>
            <a:off x="566928" y="6455664"/>
            <a:ext cx="68580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EABC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Unique does not mean unsafe: every advanced feature still uses the same validated calculation pipeline.</a:t>
            </a:r>
            <a:endParaRPr lang="en-US" sz="8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84280" y="6419088"/>
            <a:ext cx="320040" cy="18288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A9C1D9"/>
                </a:solidFill>
                <a:latin typeface="Aptos"/>
                <a:ea typeface="Aptos"/>
                <a:cs typeface="Aptos"/>
              </a:defRPr>
            </a:lvl1pPr>
          </a:lstStyle>
          <a:p>
            <a:pPr algn="r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38912" y="292608"/>
            <a:ext cx="384048" cy="384048"/>
          </a:xfrm>
          <a:prstGeom prst="roundRect">
            <a:avLst>
              <a:gd name="adj" fmla="val 19048"/>
            </a:avLst>
          </a:prstGeom>
          <a:solidFill>
            <a:srgbClr val="118A63"/>
          </a:solidFill>
          <a:ln w="12700">
            <a:solidFill>
              <a:srgbClr val="118A6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48056" y="370332"/>
            <a:ext cx="36576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CP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932688" y="329184"/>
            <a:ext cx="18745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40" kern="0" dirty="0">
                <a:solidFill>
                  <a:srgbClr val="081C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CAREERPROOF AI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566928" y="749808"/>
            <a:ext cx="32918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80" kern="0" dirty="0">
                <a:solidFill>
                  <a:srgbClr val="118A6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TRUST + QUALITY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566928" y="1005840"/>
            <a:ext cx="80467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5263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Designed to fail safely and prove it</a:t>
            </a:r>
            <a:endParaRPr lang="en-US" sz="2700" dirty="0"/>
          </a:p>
        </p:txBody>
      </p:sp>
      <p:sp>
        <p:nvSpPr>
          <p:cNvPr id="7" name="Text 5"/>
          <p:cNvSpPr/>
          <p:nvPr/>
        </p:nvSpPr>
        <p:spPr>
          <a:xfrm>
            <a:off x="566928" y="1572768"/>
            <a:ext cx="98755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C6B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 product is tested against normal questions, malformed data, private-data requests, and prompt-injection attempts.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685800" y="2130552"/>
            <a:ext cx="19202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20" kern="0" dirty="0">
                <a:solidFill>
                  <a:srgbClr val="5C6B7A"/>
                </a:solidFill>
              </a:rPr>
              <a:t>RISK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3108960" y="2130552"/>
            <a:ext cx="29260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20" kern="0" dirty="0">
                <a:solidFill>
                  <a:srgbClr val="5C6B7A"/>
                </a:solidFill>
              </a:rPr>
              <a:t>VISIBLE CONTROL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685800" y="2514600"/>
            <a:ext cx="214884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526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Invented numbers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2788920" y="2624328"/>
            <a:ext cx="228600" cy="0"/>
          </a:xfrm>
          <a:prstGeom prst="line">
            <a:avLst/>
          </a:prstGeom>
          <a:noFill/>
          <a:ln w="12700">
            <a:solidFill>
              <a:srgbClr val="118A63"/>
            </a:solidFill>
            <a:prstDash val="solid"/>
            <a:headEnd type="none"/>
            <a:tailEnd type="triangle"/>
          </a:ln>
        </p:spPr>
      </p:sp>
      <p:sp>
        <p:nvSpPr>
          <p:cNvPr id="12" name="Text 10"/>
          <p:cNvSpPr/>
          <p:nvPr/>
        </p:nvSpPr>
        <p:spPr>
          <a:xfrm>
            <a:off x="3127248" y="2514600"/>
            <a:ext cx="361188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526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Deterministic Pandas executor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685800" y="2944368"/>
            <a:ext cx="6053328" cy="0"/>
          </a:xfrm>
          <a:prstGeom prst="line">
            <a:avLst/>
          </a:prstGeom>
          <a:noFill/>
          <a:ln w="12700">
            <a:solidFill>
              <a:srgbClr val="D9E2EC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85800" y="3108960"/>
            <a:ext cx="214884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526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Arbitrary code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2788920" y="3218688"/>
            <a:ext cx="228600" cy="0"/>
          </a:xfrm>
          <a:prstGeom prst="line">
            <a:avLst/>
          </a:prstGeom>
          <a:noFill/>
          <a:ln w="12700">
            <a:solidFill>
              <a:srgbClr val="2F6BFF"/>
            </a:solidFill>
            <a:prstDash val="solid"/>
            <a:headEnd type="none"/>
            <a:tailEnd type="triangle"/>
          </a:ln>
        </p:spPr>
      </p:sp>
      <p:sp>
        <p:nvSpPr>
          <p:cNvPr id="16" name="Text 14"/>
          <p:cNvSpPr/>
          <p:nvPr/>
        </p:nvSpPr>
        <p:spPr>
          <a:xfrm>
            <a:off x="3127248" y="3108960"/>
            <a:ext cx="361188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526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Typed query plan + operation allowlist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685800" y="3538728"/>
            <a:ext cx="6053328" cy="0"/>
          </a:xfrm>
          <a:prstGeom prst="line">
            <a:avLst/>
          </a:prstGeom>
          <a:noFill/>
          <a:ln w="12700">
            <a:solidFill>
              <a:srgbClr val="D9E2EC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85800" y="3703320"/>
            <a:ext cx="214884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526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PII exposure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2788920" y="3813048"/>
            <a:ext cx="228600" cy="0"/>
          </a:xfrm>
          <a:prstGeom prst="line">
            <a:avLst/>
          </a:prstGeom>
          <a:noFill/>
          <a:ln w="12700">
            <a:solidFill>
              <a:srgbClr val="6D5CE8"/>
            </a:solidFill>
            <a:prstDash val="solid"/>
            <a:headEnd type="none"/>
            <a:tailEnd type="triangle"/>
          </a:ln>
        </p:spPr>
      </p:sp>
      <p:sp>
        <p:nvSpPr>
          <p:cNvPr id="20" name="Text 18"/>
          <p:cNvSpPr/>
          <p:nvPr/>
        </p:nvSpPr>
        <p:spPr>
          <a:xfrm>
            <a:off x="3127248" y="3703320"/>
            <a:ext cx="361188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526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Mask before UI, export, report, or log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685800" y="4133088"/>
            <a:ext cx="6053328" cy="0"/>
          </a:xfrm>
          <a:prstGeom prst="line">
            <a:avLst/>
          </a:prstGeom>
          <a:noFill/>
          <a:ln w="12700">
            <a:solidFill>
              <a:srgbClr val="D9E2EC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85800" y="4297680"/>
            <a:ext cx="214884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526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Tiny samples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2788920" y="4407408"/>
            <a:ext cx="228600" cy="0"/>
          </a:xfrm>
          <a:prstGeom prst="line">
            <a:avLst/>
          </a:prstGeom>
          <a:noFill/>
          <a:ln w="12700">
            <a:solidFill>
              <a:srgbClr val="F28C28"/>
            </a:solidFill>
            <a:prstDash val="solid"/>
            <a:headEnd type="none"/>
            <a:tailEnd type="triangle"/>
          </a:ln>
        </p:spPr>
      </p:sp>
      <p:sp>
        <p:nvSpPr>
          <p:cNvPr id="24" name="Text 22"/>
          <p:cNvSpPr/>
          <p:nvPr/>
        </p:nvSpPr>
        <p:spPr>
          <a:xfrm>
            <a:off x="3127248" y="4297680"/>
            <a:ext cx="361188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526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Minimum group size + confidence downgrade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685800" y="4727448"/>
            <a:ext cx="6053328" cy="0"/>
          </a:xfrm>
          <a:prstGeom prst="line">
            <a:avLst/>
          </a:prstGeom>
          <a:noFill/>
          <a:ln w="12700">
            <a:solidFill>
              <a:srgbClr val="D9E2EC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685800" y="4892040"/>
            <a:ext cx="214884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526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Missing fields</a:t>
            </a:r>
            <a:endParaRPr lang="en-US" sz="1200" dirty="0"/>
          </a:p>
        </p:txBody>
      </p:sp>
      <p:sp>
        <p:nvSpPr>
          <p:cNvPr id="27" name="Shape 25"/>
          <p:cNvSpPr/>
          <p:nvPr/>
        </p:nvSpPr>
        <p:spPr>
          <a:xfrm>
            <a:off x="2788920" y="5001768"/>
            <a:ext cx="228600" cy="0"/>
          </a:xfrm>
          <a:prstGeom prst="line">
            <a:avLst/>
          </a:prstGeom>
          <a:noFill/>
          <a:ln w="12700">
            <a:solidFill>
              <a:srgbClr val="D64545"/>
            </a:solidFill>
            <a:prstDash val="solid"/>
            <a:headEnd type="none"/>
            <a:tailEnd type="triangle"/>
          </a:ln>
        </p:spPr>
      </p:sp>
      <p:sp>
        <p:nvSpPr>
          <p:cNvPr id="28" name="Text 26"/>
          <p:cNvSpPr/>
          <p:nvPr/>
        </p:nvSpPr>
        <p:spPr>
          <a:xfrm>
            <a:off x="3127248" y="4892040"/>
            <a:ext cx="361188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526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Unsupported-question refusal</a:t>
            </a:r>
            <a:endParaRPr lang="en-US" sz="1200" dirty="0"/>
          </a:p>
        </p:txBody>
      </p:sp>
      <p:sp>
        <p:nvSpPr>
          <p:cNvPr id="29" name="Shape 27"/>
          <p:cNvSpPr/>
          <p:nvPr/>
        </p:nvSpPr>
        <p:spPr>
          <a:xfrm>
            <a:off x="685800" y="5321808"/>
            <a:ext cx="6053328" cy="0"/>
          </a:xfrm>
          <a:prstGeom prst="line">
            <a:avLst/>
          </a:prstGeom>
          <a:noFill/>
          <a:ln w="12700">
            <a:solidFill>
              <a:srgbClr val="D9E2EC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7150608" y="2176272"/>
            <a:ext cx="1965960" cy="877824"/>
          </a:xfrm>
          <a:prstGeom prst="rect">
            <a:avLst/>
          </a:prstGeom>
          <a:solidFill>
            <a:srgbClr val="FFFFFF"/>
          </a:solidFill>
          <a:ln>
            <a:solidFill>
              <a:srgbClr val="D9E2EC"/>
            </a:solidFill>
          </a:ln>
          <a:effectLst>
            <a:outerShdw sx="100000" sy="100000" kx="0" ky="0" algn="bl" rotWithShape="0" blurRad="3.0262732271093317e+86" dist="1.059195629488266e+86" dir="9.871627788170037e+101">
              <a:srgbClr val="000000">
                <a:alpha val="1.5999999999999997e+104"/>
              </a:srgbClr>
            </a:outerShdw>
          </a:effectLst>
        </p:spPr>
        <p:txBody>
          <a:bodyPr wrap="square" lIns="2032" tIns="2032" rIns="2032" bIns="127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15263A"/>
                </a:solidFill>
              </a:rPr>
              <a:t>62</a:t>
            </a:r>
            <a:endParaRPr lang="en-US" sz="2300" dirty="0"/>
          </a:p>
          <a:p>
            <a:pPr indent="0" marL="0">
              <a:buNone/>
            </a:pPr>
            <a:r>
              <a:rPr lang="en-US" sz="1050" dirty="0">
                <a:solidFill>
                  <a:srgbClr val="5C6B7A"/>
                </a:solidFill>
              </a:rPr>
              <a:t>automated tests passed</a:t>
            </a:r>
            <a:endParaRPr lang="en-US" sz="2300" dirty="0"/>
          </a:p>
        </p:txBody>
      </p:sp>
      <p:sp>
        <p:nvSpPr>
          <p:cNvPr id="31" name="Shape 29"/>
          <p:cNvSpPr/>
          <p:nvPr/>
        </p:nvSpPr>
        <p:spPr>
          <a:xfrm>
            <a:off x="7150608" y="2176272"/>
            <a:ext cx="50292" cy="877824"/>
          </a:xfrm>
          <a:prstGeom prst="rect">
            <a:avLst/>
          </a:prstGeom>
          <a:solidFill>
            <a:srgbClr val="2F6BFF"/>
          </a:solidFill>
          <a:ln w="12700">
            <a:solidFill>
              <a:srgbClr val="2F6BFF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9363456" y="2176272"/>
            <a:ext cx="1965960" cy="877824"/>
          </a:xfrm>
          <a:prstGeom prst="rect">
            <a:avLst/>
          </a:prstGeom>
          <a:solidFill>
            <a:srgbClr val="FFFFFF"/>
          </a:solidFill>
          <a:ln>
            <a:solidFill>
              <a:srgbClr val="D9E2EC"/>
            </a:solidFill>
          </a:ln>
          <a:effectLst>
            <a:outerShdw sx="100000" sy="100000" kx="0" ky="0" algn="bl" rotWithShape="0" blurRad="3.8433669984288512e+90" dist="1.3451784494500978e+90" dir="5.9229766729020215e+106">
              <a:srgbClr val="000000">
                <a:alpha val="1.5999999999999996e+109"/>
              </a:srgbClr>
            </a:outerShdw>
          </a:effectLst>
        </p:spPr>
        <p:txBody>
          <a:bodyPr wrap="square" lIns="2032" tIns="2032" rIns="2032" bIns="127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15263A"/>
                </a:solidFill>
              </a:rPr>
              <a:t>12/12</a:t>
            </a:r>
            <a:endParaRPr lang="en-US" sz="2300" dirty="0"/>
          </a:p>
          <a:p>
            <a:pPr indent="0" marL="0">
              <a:buNone/>
            </a:pPr>
            <a:r>
              <a:rPr lang="en-US" sz="1050" dirty="0">
                <a:solidFill>
                  <a:srgbClr val="5C6B7A"/>
                </a:solidFill>
              </a:rPr>
              <a:t>judge-ready checks passed</a:t>
            </a:r>
            <a:endParaRPr lang="en-US" sz="2300" dirty="0"/>
          </a:p>
        </p:txBody>
      </p:sp>
      <p:sp>
        <p:nvSpPr>
          <p:cNvPr id="33" name="Shape 31"/>
          <p:cNvSpPr/>
          <p:nvPr/>
        </p:nvSpPr>
        <p:spPr>
          <a:xfrm>
            <a:off x="9363456" y="2176272"/>
            <a:ext cx="50292" cy="877824"/>
          </a:xfrm>
          <a:prstGeom prst="rect">
            <a:avLst/>
          </a:prstGeom>
          <a:solidFill>
            <a:srgbClr val="118A63"/>
          </a:solidFill>
          <a:ln w="12700">
            <a:solidFill>
              <a:srgbClr val="118A63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7150608" y="3273552"/>
            <a:ext cx="1965960" cy="877824"/>
          </a:xfrm>
          <a:prstGeom prst="rect">
            <a:avLst/>
          </a:prstGeom>
          <a:solidFill>
            <a:srgbClr val="FFFFFF"/>
          </a:solidFill>
          <a:ln>
            <a:solidFill>
              <a:srgbClr val="D9E2EC"/>
            </a:solidFill>
          </a:ln>
          <a:effectLst>
            <a:outerShdw sx="100000" sy="100000" kx="0" ky="0" algn="bl" rotWithShape="0" blurRad="4.8810760880046414e+94" dist="1.708376630801624e+94" dir="3.553786003741213e+111">
              <a:srgbClr val="000000">
                <a:alpha val="1.5999999999999998e+114"/>
              </a:srgbClr>
            </a:outerShdw>
          </a:effectLst>
        </p:spPr>
        <p:txBody>
          <a:bodyPr wrap="square" lIns="2032" tIns="2032" rIns="2032" bIns="127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15263A"/>
                </a:solidFill>
              </a:rPr>
              <a:t>94/100</a:t>
            </a:r>
            <a:endParaRPr lang="en-US" sz="2300" dirty="0"/>
          </a:p>
          <a:p>
            <a:pPr indent="0" marL="0">
              <a:buNone/>
            </a:pPr>
            <a:r>
              <a:rPr lang="en-US" sz="1050" dirty="0">
                <a:solidFill>
                  <a:srgbClr val="5C6B7A"/>
                </a:solidFill>
              </a:rPr>
              <a:t>bundled data-quality score</a:t>
            </a:r>
            <a:endParaRPr lang="en-US" sz="2300" dirty="0"/>
          </a:p>
        </p:txBody>
      </p:sp>
      <p:sp>
        <p:nvSpPr>
          <p:cNvPr id="35" name="Shape 33"/>
          <p:cNvSpPr/>
          <p:nvPr/>
        </p:nvSpPr>
        <p:spPr>
          <a:xfrm>
            <a:off x="7150608" y="3273552"/>
            <a:ext cx="50292" cy="877824"/>
          </a:xfrm>
          <a:prstGeom prst="rect">
            <a:avLst/>
          </a:prstGeom>
          <a:solidFill>
            <a:srgbClr val="6D5CE8"/>
          </a:solidFill>
          <a:ln w="12700">
            <a:solidFill>
              <a:srgbClr val="6D5CE8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9363456" y="3273552"/>
            <a:ext cx="1965960" cy="877824"/>
          </a:xfrm>
          <a:prstGeom prst="rect">
            <a:avLst/>
          </a:prstGeom>
          <a:solidFill>
            <a:srgbClr val="FFFFFF"/>
          </a:solidFill>
          <a:ln>
            <a:solidFill>
              <a:srgbClr val="D9E2EC"/>
            </a:solidFill>
          </a:ln>
          <a:effectLst>
            <a:outerShdw sx="100000" sy="100000" kx="0" ky="0" algn="bl" rotWithShape="0" blurRad="6.198966631765894e+98" dist="2.1696383211180627e+98" dir="2.1322716022447277e+116">
              <a:srgbClr val="000000">
                <a:alpha val="1.5999999999999998e+119"/>
              </a:srgbClr>
            </a:outerShdw>
          </a:effectLst>
        </p:spPr>
        <p:txBody>
          <a:bodyPr wrap="square" lIns="2032" tIns="2032" rIns="2032" bIns="127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15263A"/>
                </a:solidFill>
              </a:rPr>
              <a:t>0</a:t>
            </a:r>
            <a:endParaRPr lang="en-US" sz="2300" dirty="0"/>
          </a:p>
          <a:p>
            <a:pPr indent="0" marL="0">
              <a:buNone/>
            </a:pPr>
            <a:r>
              <a:rPr lang="en-US" sz="1050" dirty="0">
                <a:solidFill>
                  <a:srgbClr val="5C6B7A"/>
                </a:solidFill>
              </a:rPr>
              <a:t>API keys required</a:t>
            </a:r>
            <a:endParaRPr lang="en-US" sz="2300" dirty="0"/>
          </a:p>
        </p:txBody>
      </p:sp>
      <p:sp>
        <p:nvSpPr>
          <p:cNvPr id="37" name="Shape 35"/>
          <p:cNvSpPr/>
          <p:nvPr/>
        </p:nvSpPr>
        <p:spPr>
          <a:xfrm>
            <a:off x="9363456" y="3273552"/>
            <a:ext cx="50292" cy="877824"/>
          </a:xfrm>
          <a:prstGeom prst="rect">
            <a:avLst/>
          </a:prstGeom>
          <a:solidFill>
            <a:srgbClr val="F28C28"/>
          </a:solidFill>
          <a:ln w="12700">
            <a:solidFill>
              <a:srgbClr val="F28C28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7150608" y="4498848"/>
            <a:ext cx="21031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20" kern="0" dirty="0">
                <a:solidFill>
                  <a:srgbClr val="5C6B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SAFE REFUSAL DEMO</a:t>
            </a:r>
            <a:endParaRPr lang="en-US" sz="1050" dirty="0"/>
          </a:p>
        </p:txBody>
      </p:sp>
      <p:sp>
        <p:nvSpPr>
          <p:cNvPr id="39" name="Text 37"/>
          <p:cNvSpPr/>
          <p:nvPr/>
        </p:nvSpPr>
        <p:spPr>
          <a:xfrm>
            <a:off x="7150608" y="4846320"/>
            <a:ext cx="41605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50" b="1" dirty="0">
                <a:solidFill>
                  <a:srgbClr val="15263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“Which company has the happiest employees?”</a:t>
            </a:r>
            <a:endParaRPr lang="en-US" sz="1750" dirty="0"/>
          </a:p>
        </p:txBody>
      </p:sp>
      <p:sp>
        <p:nvSpPr>
          <p:cNvPr id="40" name="Text 38"/>
          <p:cNvSpPr/>
          <p:nvPr/>
        </p:nvSpPr>
        <p:spPr>
          <a:xfrm>
            <a:off x="7150608" y="5358384"/>
            <a:ext cx="416052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C6B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 dataset cannot support that conclusion. The dataset has no employee-satisfaction field.</a:t>
            </a:r>
            <a:endParaRPr lang="en-US" sz="1200" dirty="0"/>
          </a:p>
        </p:txBody>
      </p:sp>
      <p:sp>
        <p:nvSpPr>
          <p:cNvPr id="41" name="Text 39"/>
          <p:cNvSpPr/>
          <p:nvPr/>
        </p:nvSpPr>
        <p:spPr>
          <a:xfrm>
            <a:off x="8988552" y="5980176"/>
            <a:ext cx="2322576" cy="310896"/>
          </a:xfrm>
          <a:prstGeom prst="rect">
            <a:avLst/>
          </a:prstGeom>
          <a:solidFill>
            <a:srgbClr val="FDECEC"/>
          </a:solidFill>
          <a:ln>
            <a:solidFill>
              <a:srgbClr val="FDECEC"/>
            </a:solidFill>
          </a:ln>
        </p:spPr>
        <p:txBody>
          <a:bodyPr wrap="square" lIns="635" tIns="635" rIns="635" bIns="635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D6454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CP-7AEBDAFC270C6B2F</a:t>
            </a:r>
            <a:endParaRPr lang="en-US" sz="950" dirty="0"/>
          </a:p>
        </p:txBody>
      </p:sp>
      <p:sp>
        <p:nvSpPr>
          <p:cNvPr id="42" name="Text 40"/>
          <p:cNvSpPr/>
          <p:nvPr/>
        </p:nvSpPr>
        <p:spPr>
          <a:xfrm>
            <a:off x="566928" y="6455664"/>
            <a:ext cx="68580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7B879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Known limitations are shown in the product and presentation rather than hidden.</a:t>
            </a:r>
            <a:endParaRPr lang="en-US" sz="8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84280" y="6419088"/>
            <a:ext cx="320040" cy="18288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718096"/>
                </a:solidFill>
                <a:latin typeface="Aptos"/>
                <a:ea typeface="Aptos"/>
                <a:cs typeface="Aptos"/>
              </a:defRPr>
            </a:lvl1pPr>
          </a:lstStyle>
          <a:p>
            <a:pPr algn="r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38912" y="292608"/>
            <a:ext cx="384048" cy="384048"/>
          </a:xfrm>
          <a:prstGeom prst="roundRect">
            <a:avLst>
              <a:gd name="adj" fmla="val 19048"/>
            </a:avLst>
          </a:prstGeom>
          <a:solidFill>
            <a:srgbClr val="118A63"/>
          </a:solidFill>
          <a:ln w="12700">
            <a:solidFill>
              <a:srgbClr val="118A6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48056" y="370332"/>
            <a:ext cx="36576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CP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932688" y="329184"/>
            <a:ext cx="18745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40" kern="0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CAREERPROOF AI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566928" y="749808"/>
            <a:ext cx="32918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80" kern="0" dirty="0">
                <a:solidFill>
                  <a:srgbClr val="118A6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WHY IT IS SUBMISSION-READY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566928" y="1005840"/>
            <a:ext cx="80467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Built around what the judges actually score</a:t>
            </a:r>
            <a:endParaRPr lang="en-US" sz="2700" dirty="0"/>
          </a:p>
        </p:txBody>
      </p:sp>
      <p:sp>
        <p:nvSpPr>
          <p:cNvPr id="7" name="Text 5"/>
          <p:cNvSpPr/>
          <p:nvPr/>
        </p:nvSpPr>
        <p:spPr>
          <a:xfrm>
            <a:off x="566928" y="1572768"/>
            <a:ext cx="98755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BDD0E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 useful end-to-end product first, with trust, evidence, clear architecture, and a concise story.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658368" y="2258568"/>
            <a:ext cx="19202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Problem + usefulness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2633472" y="2212848"/>
            <a:ext cx="2606040" cy="256032"/>
          </a:xfrm>
          <a:prstGeom prst="roundRect">
            <a:avLst>
              <a:gd name="adj" fmla="val 32143"/>
            </a:avLst>
          </a:prstGeom>
          <a:solidFill>
            <a:srgbClr val="24435F"/>
          </a:solidFill>
          <a:ln w="12700">
            <a:solidFill>
              <a:srgbClr val="24435F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2633472" y="2212848"/>
            <a:ext cx="2606040" cy="256032"/>
          </a:xfrm>
          <a:prstGeom prst="roundRect">
            <a:avLst>
              <a:gd name="adj" fmla="val 32143"/>
            </a:avLst>
          </a:prstGeom>
          <a:solidFill>
            <a:srgbClr val="118A63"/>
          </a:solidFill>
          <a:ln w="12700">
            <a:solidFill>
              <a:srgbClr val="118A63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413248" y="2240280"/>
            <a:ext cx="43891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25%</a:t>
            </a:r>
            <a:endParaRPr lang="en-US" sz="1050" dirty="0"/>
          </a:p>
        </p:txBody>
      </p:sp>
      <p:sp>
        <p:nvSpPr>
          <p:cNvPr id="12" name="Text 10"/>
          <p:cNvSpPr/>
          <p:nvPr/>
        </p:nvSpPr>
        <p:spPr>
          <a:xfrm>
            <a:off x="6035040" y="2240280"/>
            <a:ext cx="239572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30" dirty="0">
                <a:solidFill>
                  <a:srgbClr val="BDD0E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Clear early-career user problem</a:t>
            </a:r>
            <a:endParaRPr lang="en-US" sz="1030" dirty="0"/>
          </a:p>
        </p:txBody>
      </p:sp>
      <p:sp>
        <p:nvSpPr>
          <p:cNvPr id="13" name="Text 11"/>
          <p:cNvSpPr/>
          <p:nvPr/>
        </p:nvSpPr>
        <p:spPr>
          <a:xfrm>
            <a:off x="658368" y="2825496"/>
            <a:ext cx="19202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Working prototype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2633472" y="2779776"/>
            <a:ext cx="2606040" cy="256032"/>
          </a:xfrm>
          <a:prstGeom prst="roundRect">
            <a:avLst>
              <a:gd name="adj" fmla="val 32143"/>
            </a:avLst>
          </a:prstGeom>
          <a:solidFill>
            <a:srgbClr val="24435F"/>
          </a:solidFill>
          <a:ln w="12700">
            <a:solidFill>
              <a:srgbClr val="24435F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2633472" y="2779776"/>
            <a:ext cx="2606040" cy="256032"/>
          </a:xfrm>
          <a:prstGeom prst="roundRect">
            <a:avLst>
              <a:gd name="adj" fmla="val 32143"/>
            </a:avLst>
          </a:prstGeom>
          <a:solidFill>
            <a:srgbClr val="2F6BFF"/>
          </a:solidFill>
          <a:ln w="12700">
            <a:solidFill>
              <a:srgbClr val="2F6BFF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413248" y="2807208"/>
            <a:ext cx="43891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25%</a:t>
            </a:r>
            <a:endParaRPr lang="en-US" sz="1050" dirty="0"/>
          </a:p>
        </p:txBody>
      </p:sp>
      <p:sp>
        <p:nvSpPr>
          <p:cNvPr id="17" name="Text 15"/>
          <p:cNvSpPr/>
          <p:nvPr/>
        </p:nvSpPr>
        <p:spPr>
          <a:xfrm>
            <a:off x="6035040" y="2807208"/>
            <a:ext cx="239572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30" dirty="0">
                <a:solidFill>
                  <a:srgbClr val="BDD0E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Upload → question → proof → export</a:t>
            </a:r>
            <a:endParaRPr lang="en-US" sz="1030" dirty="0"/>
          </a:p>
        </p:txBody>
      </p:sp>
      <p:sp>
        <p:nvSpPr>
          <p:cNvPr id="18" name="Text 16"/>
          <p:cNvSpPr/>
          <p:nvPr/>
        </p:nvSpPr>
        <p:spPr>
          <a:xfrm>
            <a:off x="658368" y="3392424"/>
            <a:ext cx="19202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Data + AI quality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2633472" y="3346704"/>
            <a:ext cx="2606040" cy="256032"/>
          </a:xfrm>
          <a:prstGeom prst="roundRect">
            <a:avLst>
              <a:gd name="adj" fmla="val 32143"/>
            </a:avLst>
          </a:prstGeom>
          <a:solidFill>
            <a:srgbClr val="24435F"/>
          </a:solidFill>
          <a:ln w="12700">
            <a:solidFill>
              <a:srgbClr val="24435F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2633472" y="3346704"/>
            <a:ext cx="1563624" cy="256032"/>
          </a:xfrm>
          <a:prstGeom prst="roundRect">
            <a:avLst>
              <a:gd name="adj" fmla="val 32143"/>
            </a:avLst>
          </a:prstGeom>
          <a:solidFill>
            <a:srgbClr val="6D5CE8"/>
          </a:solidFill>
          <a:ln w="12700">
            <a:solidFill>
              <a:srgbClr val="6D5CE8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5413248" y="3374136"/>
            <a:ext cx="43891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15%</a:t>
            </a:r>
            <a:endParaRPr lang="en-US" sz="1050" dirty="0"/>
          </a:p>
        </p:txBody>
      </p:sp>
      <p:sp>
        <p:nvSpPr>
          <p:cNvPr id="22" name="Text 20"/>
          <p:cNvSpPr/>
          <p:nvPr/>
        </p:nvSpPr>
        <p:spPr>
          <a:xfrm>
            <a:off x="6035040" y="3374136"/>
            <a:ext cx="239572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30" dirty="0">
                <a:solidFill>
                  <a:srgbClr val="BDD0E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Local intent AI + deterministic math</a:t>
            </a:r>
            <a:endParaRPr lang="en-US" sz="1030" dirty="0"/>
          </a:p>
        </p:txBody>
      </p:sp>
      <p:sp>
        <p:nvSpPr>
          <p:cNvPr id="23" name="Text 21"/>
          <p:cNvSpPr/>
          <p:nvPr/>
        </p:nvSpPr>
        <p:spPr>
          <a:xfrm>
            <a:off x="658368" y="3959352"/>
            <a:ext cx="19202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Trust + safety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2633472" y="3913632"/>
            <a:ext cx="2606040" cy="256032"/>
          </a:xfrm>
          <a:prstGeom prst="roundRect">
            <a:avLst>
              <a:gd name="adj" fmla="val 32143"/>
            </a:avLst>
          </a:prstGeom>
          <a:solidFill>
            <a:srgbClr val="24435F"/>
          </a:solidFill>
          <a:ln w="12700">
            <a:solidFill>
              <a:srgbClr val="24435F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2633472" y="3913632"/>
            <a:ext cx="1563624" cy="256032"/>
          </a:xfrm>
          <a:prstGeom prst="roundRect">
            <a:avLst>
              <a:gd name="adj" fmla="val 32143"/>
            </a:avLst>
          </a:prstGeom>
          <a:solidFill>
            <a:srgbClr val="F28C28"/>
          </a:solidFill>
          <a:ln w="12700">
            <a:solidFill>
              <a:srgbClr val="F28C28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5413248" y="3941064"/>
            <a:ext cx="43891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15%</a:t>
            </a:r>
            <a:endParaRPr lang="en-US" sz="1050" dirty="0"/>
          </a:p>
        </p:txBody>
      </p:sp>
      <p:sp>
        <p:nvSpPr>
          <p:cNvPr id="27" name="Text 25"/>
          <p:cNvSpPr/>
          <p:nvPr/>
        </p:nvSpPr>
        <p:spPr>
          <a:xfrm>
            <a:off x="6035040" y="3941064"/>
            <a:ext cx="239572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30" dirty="0">
                <a:solidFill>
                  <a:srgbClr val="BDD0E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Masking, refusal, confidence, audit</a:t>
            </a:r>
            <a:endParaRPr lang="en-US" sz="1030" dirty="0"/>
          </a:p>
        </p:txBody>
      </p:sp>
      <p:sp>
        <p:nvSpPr>
          <p:cNvPr id="28" name="Text 26"/>
          <p:cNvSpPr/>
          <p:nvPr/>
        </p:nvSpPr>
        <p:spPr>
          <a:xfrm>
            <a:off x="658368" y="4526280"/>
            <a:ext cx="19202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Architecture clarity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2633472" y="4480560"/>
            <a:ext cx="2606040" cy="256032"/>
          </a:xfrm>
          <a:prstGeom prst="roundRect">
            <a:avLst>
              <a:gd name="adj" fmla="val 32143"/>
            </a:avLst>
          </a:prstGeom>
          <a:solidFill>
            <a:srgbClr val="24435F"/>
          </a:solidFill>
          <a:ln w="12700">
            <a:solidFill>
              <a:srgbClr val="24435F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2633472" y="4480560"/>
            <a:ext cx="1042416" cy="256032"/>
          </a:xfrm>
          <a:prstGeom prst="roundRect">
            <a:avLst>
              <a:gd name="adj" fmla="val 32143"/>
            </a:avLst>
          </a:prstGeom>
          <a:solidFill>
            <a:srgbClr val="20A4A8"/>
          </a:solidFill>
          <a:ln w="12700">
            <a:solidFill>
              <a:srgbClr val="20A4A8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5413248" y="4507992"/>
            <a:ext cx="43891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10%</a:t>
            </a:r>
            <a:endParaRPr lang="en-US" sz="1050" dirty="0"/>
          </a:p>
        </p:txBody>
      </p:sp>
      <p:sp>
        <p:nvSpPr>
          <p:cNvPr id="32" name="Text 30"/>
          <p:cNvSpPr/>
          <p:nvPr/>
        </p:nvSpPr>
        <p:spPr>
          <a:xfrm>
            <a:off x="6035040" y="4507992"/>
            <a:ext cx="239572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30" dirty="0">
                <a:solidFill>
                  <a:srgbClr val="BDD0E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Simple input-to-output flow</a:t>
            </a:r>
            <a:endParaRPr lang="en-US" sz="1030" dirty="0"/>
          </a:p>
        </p:txBody>
      </p:sp>
      <p:sp>
        <p:nvSpPr>
          <p:cNvPr id="33" name="Text 31"/>
          <p:cNvSpPr/>
          <p:nvPr/>
        </p:nvSpPr>
        <p:spPr>
          <a:xfrm>
            <a:off x="658368" y="5093208"/>
            <a:ext cx="19202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Demo + storytelling</a:t>
            </a:r>
            <a:endParaRPr lang="en-US" sz="1100" dirty="0"/>
          </a:p>
        </p:txBody>
      </p:sp>
      <p:sp>
        <p:nvSpPr>
          <p:cNvPr id="34" name="Shape 32"/>
          <p:cNvSpPr/>
          <p:nvPr/>
        </p:nvSpPr>
        <p:spPr>
          <a:xfrm>
            <a:off x="2633472" y="5047488"/>
            <a:ext cx="2606040" cy="256032"/>
          </a:xfrm>
          <a:prstGeom prst="roundRect">
            <a:avLst>
              <a:gd name="adj" fmla="val 32143"/>
            </a:avLst>
          </a:prstGeom>
          <a:solidFill>
            <a:srgbClr val="24435F"/>
          </a:solidFill>
          <a:ln w="12700">
            <a:solidFill>
              <a:srgbClr val="24435F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2633472" y="5047488"/>
            <a:ext cx="1042416" cy="256032"/>
          </a:xfrm>
          <a:prstGeom prst="roundRect">
            <a:avLst>
              <a:gd name="adj" fmla="val 32143"/>
            </a:avLst>
          </a:prstGeom>
          <a:solidFill>
            <a:srgbClr val="7DA4D8"/>
          </a:solidFill>
          <a:ln w="12700">
            <a:solidFill>
              <a:srgbClr val="7DA4D8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5413248" y="5074920"/>
            <a:ext cx="43891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10%</a:t>
            </a:r>
            <a:endParaRPr lang="en-US" sz="1050" dirty="0"/>
          </a:p>
        </p:txBody>
      </p:sp>
      <p:sp>
        <p:nvSpPr>
          <p:cNvPr id="37" name="Text 35"/>
          <p:cNvSpPr/>
          <p:nvPr/>
        </p:nvSpPr>
        <p:spPr>
          <a:xfrm>
            <a:off x="6035040" y="5074920"/>
            <a:ext cx="239572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30" dirty="0">
                <a:solidFill>
                  <a:srgbClr val="BDD0E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Success case + limitation case</a:t>
            </a:r>
            <a:endParaRPr lang="en-US" sz="1030" dirty="0"/>
          </a:p>
        </p:txBody>
      </p:sp>
      <p:sp>
        <p:nvSpPr>
          <p:cNvPr id="38" name="Shape 36"/>
          <p:cNvSpPr/>
          <p:nvPr/>
        </p:nvSpPr>
        <p:spPr>
          <a:xfrm>
            <a:off x="8705088" y="2157984"/>
            <a:ext cx="2807208" cy="3310128"/>
          </a:xfrm>
          <a:prstGeom prst="roundRect">
            <a:avLst>
              <a:gd name="adj" fmla="val 5212"/>
            </a:avLst>
          </a:prstGeom>
          <a:solidFill>
            <a:srgbClr val="102A48"/>
          </a:solidFill>
          <a:ln w="12700">
            <a:solidFill>
              <a:srgbClr val="2D5675"/>
            </a:solidFill>
            <a:prstDash val="solid"/>
          </a:ln>
          <a:effectLst>
            <a:outerShdw sx="100000" sy="100000" kx="0" ky="0" algn="bl" rotWithShape="0" blurRad="7.872687622342685e+102" dist="2.7554406678199395e+102" dir="1.2793629613468366e+121">
              <a:srgbClr val="000000">
                <a:alpha val="1.5999999999999997e+124"/>
              </a:srgbClr>
            </a:outerShdw>
          </a:effectLst>
        </p:spPr>
      </p:sp>
      <p:sp>
        <p:nvSpPr>
          <p:cNvPr id="39" name="Text 37"/>
          <p:cNvSpPr/>
          <p:nvPr/>
        </p:nvSpPr>
        <p:spPr>
          <a:xfrm>
            <a:off x="8997696" y="2395728"/>
            <a:ext cx="221284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spc="130" kern="0" dirty="0">
                <a:solidFill>
                  <a:srgbClr val="118A6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READY TO SUBMIT</a:t>
            </a:r>
            <a:endParaRPr lang="en-US" sz="1050" dirty="0"/>
          </a:p>
        </p:txBody>
      </p:sp>
      <p:sp>
        <p:nvSpPr>
          <p:cNvPr id="40" name="Text 38"/>
          <p:cNvSpPr/>
          <p:nvPr/>
        </p:nvSpPr>
        <p:spPr>
          <a:xfrm>
            <a:off x="8942832" y="2788920"/>
            <a:ext cx="2331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CareerProof AI</a:t>
            </a:r>
            <a:endParaRPr lang="en-US" sz="2200" dirty="0"/>
          </a:p>
        </p:txBody>
      </p:sp>
      <p:sp>
        <p:nvSpPr>
          <p:cNvPr id="41" name="Text 39"/>
          <p:cNvSpPr/>
          <p:nvPr/>
        </p:nvSpPr>
        <p:spPr>
          <a:xfrm>
            <a:off x="9070848" y="3355848"/>
            <a:ext cx="210312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C7DAE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Ask the job market.</a:t>
            </a:r>
            <a:endParaRPr lang="en-US" sz="1800" dirty="0"/>
          </a:p>
          <a:p>
            <a:pPr algn="ctr" indent="0" marL="0">
              <a:buNone/>
            </a:pPr>
            <a:r>
              <a:rPr lang="en-US" sz="1800" b="1" dirty="0">
                <a:solidFill>
                  <a:srgbClr val="C7DAE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See the proof.</a:t>
            </a:r>
            <a:endParaRPr lang="en-US" sz="1800" dirty="0"/>
          </a:p>
        </p:txBody>
      </p:sp>
      <p:sp>
        <p:nvSpPr>
          <p:cNvPr id="42" name="Text 40"/>
          <p:cNvSpPr/>
          <p:nvPr/>
        </p:nvSpPr>
        <p:spPr>
          <a:xfrm>
            <a:off x="9098280" y="4297680"/>
            <a:ext cx="1993392" cy="310896"/>
          </a:xfrm>
          <a:prstGeom prst="rect">
            <a:avLst/>
          </a:prstGeom>
          <a:solidFill>
            <a:srgbClr val="118A63"/>
          </a:solidFill>
          <a:ln>
            <a:solidFill>
              <a:srgbClr val="118A63"/>
            </a:solidFill>
          </a:ln>
        </p:spPr>
        <p:txBody>
          <a:bodyPr wrap="square" lIns="635" tIns="635" rIns="635" bIns="635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646 CLEANED ROWS</a:t>
            </a:r>
            <a:endParaRPr lang="en-US" sz="950" dirty="0"/>
          </a:p>
        </p:txBody>
      </p:sp>
      <p:sp>
        <p:nvSpPr>
          <p:cNvPr id="43" name="Text 41"/>
          <p:cNvSpPr/>
          <p:nvPr/>
        </p:nvSpPr>
        <p:spPr>
          <a:xfrm>
            <a:off x="9098280" y="4681728"/>
            <a:ext cx="1993392" cy="310896"/>
          </a:xfrm>
          <a:prstGeom prst="rect">
            <a:avLst/>
          </a:prstGeom>
          <a:solidFill>
            <a:srgbClr val="2F6BFF"/>
          </a:solidFill>
          <a:ln>
            <a:solidFill>
              <a:srgbClr val="2F6BFF"/>
            </a:solidFill>
          </a:ln>
        </p:spPr>
        <p:txBody>
          <a:bodyPr wrap="square" lIns="635" tIns="635" rIns="635" bIns="635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12 / 12 DEMOS</a:t>
            </a:r>
            <a:endParaRPr lang="en-US" sz="950" dirty="0"/>
          </a:p>
        </p:txBody>
      </p:sp>
      <p:sp>
        <p:nvSpPr>
          <p:cNvPr id="44" name="Text 42"/>
          <p:cNvSpPr/>
          <p:nvPr/>
        </p:nvSpPr>
        <p:spPr>
          <a:xfrm>
            <a:off x="8979408" y="5093208"/>
            <a:ext cx="223113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60" dirty="0">
                <a:solidFill>
                  <a:srgbClr val="9FB8C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This dataset is synthetic. Limitations disclosed. No external API required.</a:t>
            </a:r>
            <a:endParaRPr lang="en-US" sz="960" dirty="0"/>
          </a:p>
        </p:txBody>
      </p:sp>
      <p:sp>
        <p:nvSpPr>
          <p:cNvPr id="45" name="Text 43"/>
          <p:cNvSpPr/>
          <p:nvPr/>
        </p:nvSpPr>
        <p:spPr>
          <a:xfrm>
            <a:off x="658368" y="5806440"/>
            <a:ext cx="12344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8EABC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Final manual steps</a:t>
            </a:r>
            <a:endParaRPr lang="en-US" sz="1000" dirty="0"/>
          </a:p>
        </p:txBody>
      </p:sp>
      <p:sp>
        <p:nvSpPr>
          <p:cNvPr id="46" name="Text 44"/>
          <p:cNvSpPr/>
          <p:nvPr/>
        </p:nvSpPr>
        <p:spPr>
          <a:xfrm>
            <a:off x="1965960" y="5779008"/>
            <a:ext cx="62362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Push public GitHub history · record the ≤10-minute video · add team details · upload the verified ZIP</a:t>
            </a:r>
            <a:endParaRPr lang="en-US" sz="1100" dirty="0"/>
          </a:p>
        </p:txBody>
      </p:sp>
      <p:sp>
        <p:nvSpPr>
          <p:cNvPr id="47" name="Text 45"/>
          <p:cNvSpPr/>
          <p:nvPr/>
        </p:nvSpPr>
        <p:spPr>
          <a:xfrm>
            <a:off x="566928" y="6455664"/>
            <a:ext cx="68580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EABC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CareerProof AI · Trustworthy answers require visible proof.</a:t>
            </a:r>
            <a:endParaRPr lang="en-US" sz="8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84280" y="6419088"/>
            <a:ext cx="320040" cy="18288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A9C1D9"/>
                </a:solidFill>
                <a:latin typeface="Aptos"/>
                <a:ea typeface="Aptos"/>
                <a:cs typeface="Aptos"/>
              </a:defRPr>
            </a:lvl1pPr>
          </a:lstStyle>
          <a:p>
            <a:pPr algn="r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Secure AI Hackathon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CareerProof AI - Ask the job market. See the proof.</dc:title>
  <dc:subject>Track 2 - Trustworthy Data Analysis</dc:subject>
  <dc:creator>CareerProof AI Hackathon Team</dc:creator>
  <cp:lastModifiedBy>CareerProof AI Hackathon Team</cp:lastModifiedBy>
  <cp:revision>1</cp:revision>
  <dcterms:created xsi:type="dcterms:W3CDTF">2026-07-30T18:51:14Z</dcterms:created>
  <dcterms:modified xsi:type="dcterms:W3CDTF">2026-07-30T18:51:14Z</dcterms:modified>
</cp:coreProperties>
</file>